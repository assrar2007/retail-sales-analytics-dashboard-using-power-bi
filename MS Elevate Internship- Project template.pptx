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ags/tag4.xml" ContentType="application/vnd.openxmlformats-officedocument.presentationml.tags+xml"/>
  <Override PartName="/ppt/notesSlides/notesSlide1.xml" ContentType="application/vnd.openxmlformats-officedocument.presentationml.notesSlide+xml"/>
  <Override PartName="/ppt/tags/tag5.xml" ContentType="application/vnd.openxmlformats-officedocument.presentationml.tags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50" r:id="rId1"/>
    <p:sldMasterId id="2147483652" r:id="rId2"/>
  </p:sldMasterIdLst>
  <p:notesMasterIdLst>
    <p:notesMasterId r:id="rId14"/>
  </p:notesMasterIdLst>
  <p:sldIdLst>
    <p:sldId id="256" r:id="rId3"/>
    <p:sldId id="571" r:id="rId4"/>
    <p:sldId id="572" r:id="rId5"/>
    <p:sldId id="573" r:id="rId6"/>
    <p:sldId id="574" r:id="rId7"/>
    <p:sldId id="575" r:id="rId8"/>
    <p:sldId id="576" r:id="rId9"/>
    <p:sldId id="577" r:id="rId10"/>
    <p:sldId id="579" r:id="rId11"/>
    <p:sldId id="578" r:id="rId12"/>
    <p:sldId id="536" r:id="rId13"/>
  </p:sldIdLst>
  <p:sldSz cx="12192000" cy="6858000"/>
  <p:notesSz cx="6858000" cy="9144000"/>
  <p:custDataLst>
    <p:tags r:id="rId15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672" userDrawn="1">
          <p15:clr>
            <a:srgbClr val="A4A3A4"/>
          </p15:clr>
        </p15:guide>
        <p15:guide id="2" pos="312" userDrawn="1">
          <p15:clr>
            <a:srgbClr val="A4A3A4"/>
          </p15:clr>
        </p15:guide>
        <p15:guide id="3" orient="horz" pos="912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C4B9636B-3D94-EB3D-7CF5-3935240F8C9F}" name="Ramar Bose" initials="RB" userId="S::ramar@edunetfoundation.org::ae727035-80f4-46a2-9b41-59f778a1b49a" providerId="AD"/>
  <p188:author id="{D0A8B7BB-36D1-777B-64C8-9A30C894A727}" name="Rashmi Mishra" initials="RM" userId="S::rmishra@edunetfoundation.org::6469e6c3-66fa-4f4f-9c10-a71ac4161bf2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4A751"/>
    <a:srgbClr val="263570"/>
    <a:srgbClr val="4A9DE2"/>
    <a:srgbClr val="88BFEC"/>
    <a:srgbClr val="F9B1B1"/>
    <a:srgbClr val="B2DE82"/>
    <a:srgbClr val="F57373"/>
    <a:srgbClr val="F03434"/>
    <a:srgbClr val="BC7D00"/>
    <a:srgbClr val="FFBC3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74A5AE8-2D63-4BEA-A957-7E3FC43DE60D}" v="30" dt="2026-01-15T09:08:21.46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73818" autoAdjust="0"/>
  </p:normalViewPr>
  <p:slideViewPr>
    <p:cSldViewPr snapToGrid="0">
      <p:cViewPr varScale="1">
        <p:scale>
          <a:sx n="76" d="100"/>
          <a:sy n="76" d="100"/>
        </p:scale>
        <p:origin x="134" y="197"/>
      </p:cViewPr>
      <p:guideLst>
        <p:guide orient="horz" pos="672"/>
        <p:guide pos="312"/>
        <p:guide orient="horz" pos="91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theme" Target="theme/theme1.xml"/><Relationship Id="rId3" Type="http://schemas.openxmlformats.org/officeDocument/2006/relationships/slide" Target="slides/slide1.xml"/><Relationship Id="rId21" Type="http://schemas.microsoft.com/office/2015/10/relationships/revisionInfo" Target="revisionInfo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6" Type="http://schemas.openxmlformats.org/officeDocument/2006/relationships/presProps" Target="presProps.xml"/><Relationship Id="rId20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tags" Target="tags/tag1.xml"/><Relationship Id="rId10" Type="http://schemas.openxmlformats.org/officeDocument/2006/relationships/slide" Target="slides/slide8.xml"/><Relationship Id="rId19" Type="http://schemas.openxmlformats.org/officeDocument/2006/relationships/tableStyles" Target="tableStyle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notesMaster" Target="notesMasters/notesMaster1.xml"/><Relationship Id="rId22" Type="http://schemas.microsoft.com/office/2018/10/relationships/authors" Target="author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ohammed Assrarullah" userId="7d748f2b39fd4dc8" providerId="LiveId" clId="{66741519-9FB6-4005-ABF4-A26A19847B56}"/>
    <pc:docChg chg="custSel modSld">
      <pc:chgData name="Mohammed Assrarullah" userId="7d748f2b39fd4dc8" providerId="LiveId" clId="{66741519-9FB6-4005-ABF4-A26A19847B56}" dt="2026-01-15T09:08:54.906" v="458" actId="20577"/>
      <pc:docMkLst>
        <pc:docMk/>
      </pc:docMkLst>
      <pc:sldChg chg="modSp mod">
        <pc:chgData name="Mohammed Assrarullah" userId="7d748f2b39fd4dc8" providerId="LiveId" clId="{66741519-9FB6-4005-ABF4-A26A19847B56}" dt="2026-01-15T07:35:27.554" v="345" actId="1076"/>
        <pc:sldMkLst>
          <pc:docMk/>
          <pc:sldMk cId="2310333463" sldId="256"/>
        </pc:sldMkLst>
        <pc:spChg chg="mod">
          <ac:chgData name="Mohammed Assrarullah" userId="7d748f2b39fd4dc8" providerId="LiveId" clId="{66741519-9FB6-4005-ABF4-A26A19847B56}" dt="2026-01-15T07:31:47.930" v="3" actId="255"/>
          <ac:spMkLst>
            <pc:docMk/>
            <pc:sldMk cId="2310333463" sldId="256"/>
            <ac:spMk id="3" creationId="{0F837936-4230-3A98-A2A1-6E77E027B36D}"/>
          </ac:spMkLst>
        </pc:spChg>
        <pc:spChg chg="mod">
          <ac:chgData name="Mohammed Assrarullah" userId="7d748f2b39fd4dc8" providerId="LiveId" clId="{66741519-9FB6-4005-ABF4-A26A19847B56}" dt="2026-01-15T07:35:27.554" v="345" actId="1076"/>
          <ac:spMkLst>
            <pc:docMk/>
            <pc:sldMk cId="2310333463" sldId="256"/>
            <ac:spMk id="5" creationId="{3A663A0C-3931-F8E6-391C-2FF1FDBB09CD}"/>
          </ac:spMkLst>
        </pc:spChg>
      </pc:sldChg>
      <pc:sldChg chg="modSp mod">
        <pc:chgData name="Mohammed Assrarullah" userId="7d748f2b39fd4dc8" providerId="LiveId" clId="{66741519-9FB6-4005-ABF4-A26A19847B56}" dt="2026-01-15T07:36:08.085" v="350" actId="20577"/>
        <pc:sldMkLst>
          <pc:docMk/>
          <pc:sldMk cId="2817874764" sldId="571"/>
        </pc:sldMkLst>
        <pc:spChg chg="mod">
          <ac:chgData name="Mohammed Assrarullah" userId="7d748f2b39fd4dc8" providerId="LiveId" clId="{66741519-9FB6-4005-ABF4-A26A19847B56}" dt="2026-01-15T07:36:08.085" v="350" actId="20577"/>
          <ac:spMkLst>
            <pc:docMk/>
            <pc:sldMk cId="2817874764" sldId="571"/>
            <ac:spMk id="3" creationId="{1C04173D-62A9-AF06-B476-EEB827087147}"/>
          </ac:spMkLst>
        </pc:spChg>
      </pc:sldChg>
      <pc:sldChg chg="modSp">
        <pc:chgData name="Mohammed Assrarullah" userId="7d748f2b39fd4dc8" providerId="LiveId" clId="{66741519-9FB6-4005-ABF4-A26A19847B56}" dt="2026-01-15T07:36:26.687" v="351"/>
        <pc:sldMkLst>
          <pc:docMk/>
          <pc:sldMk cId="3372914246" sldId="572"/>
        </pc:sldMkLst>
        <pc:spChg chg="mod">
          <ac:chgData name="Mohammed Assrarullah" userId="7d748f2b39fd4dc8" providerId="LiveId" clId="{66741519-9FB6-4005-ABF4-A26A19847B56}" dt="2026-01-15T07:36:26.687" v="351"/>
          <ac:spMkLst>
            <pc:docMk/>
            <pc:sldMk cId="3372914246" sldId="572"/>
            <ac:spMk id="3" creationId="{28E8C97F-5AC9-F1CA-3CCC-090D5B13989A}"/>
          </ac:spMkLst>
        </pc:spChg>
      </pc:sldChg>
      <pc:sldChg chg="modSp mod">
        <pc:chgData name="Mohammed Assrarullah" userId="7d748f2b39fd4dc8" providerId="LiveId" clId="{66741519-9FB6-4005-ABF4-A26A19847B56}" dt="2026-01-15T07:37:58.407" v="360" actId="14100"/>
        <pc:sldMkLst>
          <pc:docMk/>
          <pc:sldMk cId="204139634" sldId="573"/>
        </pc:sldMkLst>
        <pc:spChg chg="mod">
          <ac:chgData name="Mohammed Assrarullah" userId="7d748f2b39fd4dc8" providerId="LiveId" clId="{66741519-9FB6-4005-ABF4-A26A19847B56}" dt="2026-01-15T07:37:58.407" v="360" actId="14100"/>
          <ac:spMkLst>
            <pc:docMk/>
            <pc:sldMk cId="204139634" sldId="573"/>
            <ac:spMk id="3" creationId="{AF67202D-4065-DDD7-98F1-4291C536D1A3}"/>
          </ac:spMkLst>
        </pc:spChg>
      </pc:sldChg>
      <pc:sldChg chg="modSp mod">
        <pc:chgData name="Mohammed Assrarullah" userId="7d748f2b39fd4dc8" providerId="LiveId" clId="{66741519-9FB6-4005-ABF4-A26A19847B56}" dt="2026-01-15T07:38:55.192" v="368" actId="1076"/>
        <pc:sldMkLst>
          <pc:docMk/>
          <pc:sldMk cId="3501125123" sldId="574"/>
        </pc:sldMkLst>
        <pc:spChg chg="mod">
          <ac:chgData name="Mohammed Assrarullah" userId="7d748f2b39fd4dc8" providerId="LiveId" clId="{66741519-9FB6-4005-ABF4-A26A19847B56}" dt="2026-01-15T07:38:55.192" v="368" actId="1076"/>
          <ac:spMkLst>
            <pc:docMk/>
            <pc:sldMk cId="3501125123" sldId="574"/>
            <ac:spMk id="3" creationId="{FE07E8EE-7F26-D809-3523-C58876935A4E}"/>
          </ac:spMkLst>
        </pc:spChg>
      </pc:sldChg>
      <pc:sldChg chg="modSp mod">
        <pc:chgData name="Mohammed Assrarullah" userId="7d748f2b39fd4dc8" providerId="LiveId" clId="{66741519-9FB6-4005-ABF4-A26A19847B56}" dt="2026-01-15T07:39:14.389" v="370" actId="27636"/>
        <pc:sldMkLst>
          <pc:docMk/>
          <pc:sldMk cId="1199084396" sldId="575"/>
        </pc:sldMkLst>
        <pc:spChg chg="mod">
          <ac:chgData name="Mohammed Assrarullah" userId="7d748f2b39fd4dc8" providerId="LiveId" clId="{66741519-9FB6-4005-ABF4-A26A19847B56}" dt="2026-01-15T07:39:14.389" v="370" actId="27636"/>
          <ac:spMkLst>
            <pc:docMk/>
            <pc:sldMk cId="1199084396" sldId="575"/>
            <ac:spMk id="3" creationId="{B5107410-DE3D-5F62-F9D7-11EAEA92F0BB}"/>
          </ac:spMkLst>
        </pc:spChg>
      </pc:sldChg>
      <pc:sldChg chg="addSp delSp modSp mod">
        <pc:chgData name="Mohammed Assrarullah" userId="7d748f2b39fd4dc8" providerId="LiveId" clId="{66741519-9FB6-4005-ABF4-A26A19847B56}" dt="2026-01-15T09:08:26.492" v="443" actId="1076"/>
        <pc:sldMkLst>
          <pc:docMk/>
          <pc:sldMk cId="58742533" sldId="576"/>
        </pc:sldMkLst>
        <pc:spChg chg="mod">
          <ac:chgData name="Mohammed Assrarullah" userId="7d748f2b39fd4dc8" providerId="LiveId" clId="{66741519-9FB6-4005-ABF4-A26A19847B56}" dt="2026-01-15T09:06:49.239" v="436" actId="20577"/>
          <ac:spMkLst>
            <pc:docMk/>
            <pc:sldMk cId="58742533" sldId="576"/>
            <ac:spMk id="3" creationId="{66102C9B-C4AF-D0DB-DE74-862D9812001C}"/>
          </ac:spMkLst>
        </pc:spChg>
        <pc:picChg chg="add del mod">
          <ac:chgData name="Mohammed Assrarullah" userId="7d748f2b39fd4dc8" providerId="LiveId" clId="{66741519-9FB6-4005-ABF4-A26A19847B56}" dt="2026-01-15T09:07:42.984" v="440" actId="21"/>
          <ac:picMkLst>
            <pc:docMk/>
            <pc:sldMk cId="58742533" sldId="576"/>
            <ac:picMk id="5" creationId="{1811242B-C789-D0E4-F27F-BF7EB5CA7FB5}"/>
          </ac:picMkLst>
        </pc:picChg>
        <pc:picChg chg="add mod">
          <ac:chgData name="Mohammed Assrarullah" userId="7d748f2b39fd4dc8" providerId="LiveId" clId="{66741519-9FB6-4005-ABF4-A26A19847B56}" dt="2026-01-15T09:08:26.492" v="443" actId="1076"/>
          <ac:picMkLst>
            <pc:docMk/>
            <pc:sldMk cId="58742533" sldId="576"/>
            <ac:picMk id="7" creationId="{460119BB-3371-9EE7-BF80-824F37985885}"/>
          </ac:picMkLst>
        </pc:picChg>
      </pc:sldChg>
      <pc:sldChg chg="addSp delSp modSp mod">
        <pc:chgData name="Mohammed Assrarullah" userId="7d748f2b39fd4dc8" providerId="LiveId" clId="{66741519-9FB6-4005-ABF4-A26A19847B56}" dt="2026-01-15T07:40:17.882" v="378" actId="1076"/>
        <pc:sldMkLst>
          <pc:docMk/>
          <pc:sldMk cId="2245309600" sldId="577"/>
        </pc:sldMkLst>
        <pc:spChg chg="del mod">
          <ac:chgData name="Mohammed Assrarullah" userId="7d748f2b39fd4dc8" providerId="LiveId" clId="{66741519-9FB6-4005-ABF4-A26A19847B56}" dt="2026-01-15T07:39:55.958" v="374"/>
          <ac:spMkLst>
            <pc:docMk/>
            <pc:sldMk cId="2245309600" sldId="577"/>
            <ac:spMk id="3" creationId="{21789DDB-698E-B624-5621-F9D79482FFED}"/>
          </ac:spMkLst>
        </pc:spChg>
        <pc:spChg chg="add del mod">
          <ac:chgData name="Mohammed Assrarullah" userId="7d748f2b39fd4dc8" providerId="LiveId" clId="{66741519-9FB6-4005-ABF4-A26A19847B56}" dt="2026-01-15T07:40:10.040" v="376"/>
          <ac:spMkLst>
            <pc:docMk/>
            <pc:sldMk cId="2245309600" sldId="577"/>
            <ac:spMk id="4" creationId="{8EF21F86-5E1F-64CE-4893-88D23DC3C35C}"/>
          </ac:spMkLst>
        </pc:spChg>
        <pc:spChg chg="add mod">
          <ac:chgData name="Mohammed Assrarullah" userId="7d748f2b39fd4dc8" providerId="LiveId" clId="{66741519-9FB6-4005-ABF4-A26A19847B56}" dt="2026-01-15T07:40:17.882" v="378" actId="1076"/>
          <ac:spMkLst>
            <pc:docMk/>
            <pc:sldMk cId="2245309600" sldId="577"/>
            <ac:spMk id="5" creationId="{53E2A7E3-29EB-7554-3D10-5F750F6607DE}"/>
          </ac:spMkLst>
        </pc:spChg>
      </pc:sldChg>
      <pc:sldChg chg="addSp delSp modSp mod">
        <pc:chgData name="Mohammed Assrarullah" userId="7d748f2b39fd4dc8" providerId="LiveId" clId="{66741519-9FB6-4005-ABF4-A26A19847B56}" dt="2026-01-15T09:08:54.906" v="458" actId="20577"/>
        <pc:sldMkLst>
          <pc:docMk/>
          <pc:sldMk cId="1691700673" sldId="578"/>
        </pc:sldMkLst>
        <pc:spChg chg="mod">
          <ac:chgData name="Mohammed Assrarullah" userId="7d748f2b39fd4dc8" providerId="LiveId" clId="{66741519-9FB6-4005-ABF4-A26A19847B56}" dt="2026-01-15T07:41:43.929" v="398" actId="20577"/>
          <ac:spMkLst>
            <pc:docMk/>
            <pc:sldMk cId="1691700673" sldId="578"/>
            <ac:spMk id="3" creationId="{5E6198D1-2392-A218-1A4C-10F40FCB8253}"/>
          </ac:spMkLst>
        </pc:spChg>
        <pc:spChg chg="add del mod">
          <ac:chgData name="Mohammed Assrarullah" userId="7d748f2b39fd4dc8" providerId="LiveId" clId="{66741519-9FB6-4005-ABF4-A26A19847B56}" dt="2026-01-15T07:41:18.958" v="390"/>
          <ac:spMkLst>
            <pc:docMk/>
            <pc:sldMk cId="1691700673" sldId="578"/>
            <ac:spMk id="4" creationId="{4C9E264B-DE5E-01EB-01E3-F8901F8AAF51}"/>
          </ac:spMkLst>
        </pc:spChg>
        <pc:spChg chg="add del mod">
          <ac:chgData name="Mohammed Assrarullah" userId="7d748f2b39fd4dc8" providerId="LiveId" clId="{66741519-9FB6-4005-ABF4-A26A19847B56}" dt="2026-01-15T07:41:18.958" v="392"/>
          <ac:spMkLst>
            <pc:docMk/>
            <pc:sldMk cId="1691700673" sldId="578"/>
            <ac:spMk id="5" creationId="{880F0A00-793B-9091-AA59-32675B8A5E14}"/>
          </ac:spMkLst>
        </pc:spChg>
        <pc:spChg chg="add del mod">
          <ac:chgData name="Mohammed Assrarullah" userId="7d748f2b39fd4dc8" providerId="LiveId" clId="{66741519-9FB6-4005-ABF4-A26A19847B56}" dt="2026-01-15T07:41:18.958" v="394"/>
          <ac:spMkLst>
            <pc:docMk/>
            <pc:sldMk cId="1691700673" sldId="578"/>
            <ac:spMk id="6" creationId="{9DD6A1EC-554B-333D-0C13-6D27F6BAB2D6}"/>
          </ac:spMkLst>
        </pc:spChg>
        <pc:spChg chg="add del mod">
          <ac:chgData name="Mohammed Assrarullah" userId="7d748f2b39fd4dc8" providerId="LiveId" clId="{66741519-9FB6-4005-ABF4-A26A19847B56}" dt="2026-01-15T07:41:55.377" v="400" actId="21"/>
          <ac:spMkLst>
            <pc:docMk/>
            <pc:sldMk cId="1691700673" sldId="578"/>
            <ac:spMk id="7" creationId="{970A8FCB-508E-2199-4D4D-E8E4775ECAF1}"/>
          </ac:spMkLst>
        </pc:spChg>
        <pc:spChg chg="add del mod">
          <ac:chgData name="Mohammed Assrarullah" userId="7d748f2b39fd4dc8" providerId="LiveId" clId="{66741519-9FB6-4005-ABF4-A26A19847B56}" dt="2026-01-15T07:42:39.898" v="416"/>
          <ac:spMkLst>
            <pc:docMk/>
            <pc:sldMk cId="1691700673" sldId="578"/>
            <ac:spMk id="8" creationId="{7DFB73C7-E994-7AF8-2266-F4D0BBD2629E}"/>
          </ac:spMkLst>
        </pc:spChg>
        <pc:spChg chg="add del mod">
          <ac:chgData name="Mohammed Assrarullah" userId="7d748f2b39fd4dc8" providerId="LiveId" clId="{66741519-9FB6-4005-ABF4-A26A19847B56}" dt="2026-01-15T07:42:39.898" v="414" actId="21"/>
          <ac:spMkLst>
            <pc:docMk/>
            <pc:sldMk cId="1691700673" sldId="578"/>
            <ac:spMk id="9" creationId="{970A8FCB-508E-2199-4D4D-E8E4775ECAF1}"/>
          </ac:spMkLst>
        </pc:spChg>
        <pc:spChg chg="add del mod">
          <ac:chgData name="Mohammed Assrarullah" userId="7d748f2b39fd4dc8" providerId="LiveId" clId="{66741519-9FB6-4005-ABF4-A26A19847B56}" dt="2026-01-15T07:43:00.268" v="420"/>
          <ac:spMkLst>
            <pc:docMk/>
            <pc:sldMk cId="1691700673" sldId="578"/>
            <ac:spMk id="10" creationId="{9C0A53EC-5878-1583-220D-91F17A6456B3}"/>
          </ac:spMkLst>
        </pc:spChg>
        <pc:spChg chg="add del mod">
          <ac:chgData name="Mohammed Assrarullah" userId="7d748f2b39fd4dc8" providerId="LiveId" clId="{66741519-9FB6-4005-ABF4-A26A19847B56}" dt="2026-01-15T07:43:32.250" v="425"/>
          <ac:spMkLst>
            <pc:docMk/>
            <pc:sldMk cId="1691700673" sldId="578"/>
            <ac:spMk id="11" creationId="{FB4CB6AC-3E72-8DAC-FC2E-1959B275CA9D}"/>
          </ac:spMkLst>
        </pc:spChg>
        <pc:spChg chg="add del mod">
          <ac:chgData name="Mohammed Assrarullah" userId="7d748f2b39fd4dc8" providerId="LiveId" clId="{66741519-9FB6-4005-ABF4-A26A19847B56}" dt="2026-01-15T07:43:57.487" v="431"/>
          <ac:spMkLst>
            <pc:docMk/>
            <pc:sldMk cId="1691700673" sldId="578"/>
            <ac:spMk id="12" creationId="{D756893E-BE63-9916-9B93-872EDF5B7AAB}"/>
          </ac:spMkLst>
        </pc:spChg>
        <pc:spChg chg="add del mod">
          <ac:chgData name="Mohammed Assrarullah" userId="7d748f2b39fd4dc8" providerId="LiveId" clId="{66741519-9FB6-4005-ABF4-A26A19847B56}" dt="2026-01-15T07:43:57.487" v="433"/>
          <ac:spMkLst>
            <pc:docMk/>
            <pc:sldMk cId="1691700673" sldId="578"/>
            <ac:spMk id="13" creationId="{B20EFEB8-88B6-A642-7A3A-ADC06E7513DC}"/>
          </ac:spMkLst>
        </pc:spChg>
        <pc:spChg chg="add mod">
          <ac:chgData name="Mohammed Assrarullah" userId="7d748f2b39fd4dc8" providerId="LiveId" clId="{66741519-9FB6-4005-ABF4-A26A19847B56}" dt="2026-01-15T09:08:54.906" v="458" actId="20577"/>
          <ac:spMkLst>
            <pc:docMk/>
            <pc:sldMk cId="1691700673" sldId="578"/>
            <ac:spMk id="15" creationId="{8576222E-76D6-A1E6-2232-0FEDCB857798}"/>
          </ac:spMkLst>
        </pc:spChg>
      </pc:sldChg>
      <pc:sldChg chg="modSp">
        <pc:chgData name="Mohammed Assrarullah" userId="7d748f2b39fd4dc8" providerId="LiveId" clId="{66741519-9FB6-4005-ABF4-A26A19847B56}" dt="2026-01-15T07:40:32.680" v="379"/>
        <pc:sldMkLst>
          <pc:docMk/>
          <pc:sldMk cId="3744199677" sldId="579"/>
        </pc:sldMkLst>
        <pc:spChg chg="mod">
          <ac:chgData name="Mohammed Assrarullah" userId="7d748f2b39fd4dc8" providerId="LiveId" clId="{66741519-9FB6-4005-ABF4-A26A19847B56}" dt="2026-01-15T07:40:32.680" v="379"/>
          <ac:spMkLst>
            <pc:docMk/>
            <pc:sldMk cId="3744199677" sldId="579"/>
            <ac:spMk id="3" creationId="{3F2C79AB-5BF9-3911-CAE8-5E44B0DF2236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1699836-02B7-459A-AF64-A000817D576C}" type="datetimeFigureOut">
              <a:rPr lang="en-IN" smtClean="0"/>
              <a:t>15-01-2026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3065E4E-ABE4-4C79-8716-B93932D5FBD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413316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3065E4E-ABE4-4C79-8716-B93932D5FBD3}" type="slidenum">
              <a:rPr lang="en-IN" smtClean="0"/>
              <a:t>1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5826633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D88B07-5A8B-12D3-48D5-B8315D13CD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87B6700-05A0-7411-109E-A374569B630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488D759-B238-4D1C-A179-63DF885F62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>
              <a:cs typeface="Calibri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4C31F17-191B-CFE4-28A8-DF229B94933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3065E4E-ABE4-4C79-8716-B93932D5FBD3}" type="slidenum">
              <a:rPr lang="en-IN" smtClean="0"/>
              <a:t>11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7685453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3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custDataLst>
      <p:tags r:id="rId1"/>
    </p:custDataLst>
    <p:extLst>
      <p:ext uri="{BB962C8B-B14F-4D97-AF65-F5344CB8AC3E}">
        <p14:creationId xmlns:p14="http://schemas.microsoft.com/office/powerpoint/2010/main" val="406268469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userDrawn="1">
  <p:cSld name="1_Title and body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7690970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B54273-D1B2-B5DA-BF7E-9FF169DF6E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0EE723-48AC-C184-D51D-DB184D9E4A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5A217C-58BE-CEDC-FE42-FFECCA161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3FA99E-0146-4BD9-9E30-4EB71F3A4207}" type="datetimeFigureOut">
              <a:rPr lang="en-IN" smtClean="0"/>
              <a:t>15-01-2026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F67DFB-4595-5610-E73D-EA112439D5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B5188B-8994-FE2D-E924-64F2FB541B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381918-31C6-44C6-A382-2FA557A3F6B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509285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DE50D6-574B-40AF-946F-D52A04ADE379}" type="datetime1">
              <a:rPr lang="en-US" smtClean="0"/>
              <a:t>1/15/2026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81192" y="6423914"/>
            <a:ext cx="691721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75929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15/01/2026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288563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271073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452293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898709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userDrawn="1">
  <p:cSld name="1_Title and body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7974765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tags" Target="../tags/tag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8.xml"/><Relationship Id="rId2" Type="http://schemas.openxmlformats.org/officeDocument/2006/relationships/slideLayout" Target="../slideLayouts/slideLayout7.xml"/><Relationship Id="rId1" Type="http://schemas.openxmlformats.org/officeDocument/2006/relationships/slideLayout" Target="../slideLayouts/slideLayout6.xml"/><Relationship Id="rId5" Type="http://schemas.openxmlformats.org/officeDocument/2006/relationships/theme" Target="../theme/theme2.xml"/><Relationship Id="rId4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ABE36FD2-5CF9-42B6-267C-75A9A8826A1C}"/>
              </a:ext>
            </a:extLst>
          </p:cNvPr>
          <p:cNvSpPr/>
          <p:nvPr userDrawn="1"/>
        </p:nvSpPr>
        <p:spPr>
          <a:xfrm>
            <a:off x="0" y="0"/>
            <a:ext cx="10374086" cy="660400"/>
          </a:xfrm>
          <a:prstGeom prst="rect">
            <a:avLst/>
          </a:prstGeom>
          <a:solidFill>
            <a:srgbClr val="26357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85F6CF07-40A9-24A4-F336-0BDA8D93267D}"/>
              </a:ext>
            </a:extLst>
          </p:cNvPr>
          <p:cNvSpPr/>
          <p:nvPr userDrawn="1"/>
        </p:nvSpPr>
        <p:spPr>
          <a:xfrm>
            <a:off x="0" y="6692900"/>
            <a:ext cx="12192000" cy="165100"/>
          </a:xfrm>
          <a:prstGeom prst="rect">
            <a:avLst/>
          </a:prstGeom>
          <a:solidFill>
            <a:srgbClr val="34A75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1028" name="Picture 4" descr="A black background with grey text&#10;&#10;AI-generated content may be incorrect.">
            <a:extLst>
              <a:ext uri="{FF2B5EF4-FFF2-40B4-BE49-F238E27FC236}">
                <a16:creationId xmlns:a16="http://schemas.microsoft.com/office/drawing/2014/main" id="{66C649D9-DD8B-5B7D-F409-A3797AEF3D36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65905" y="91005"/>
            <a:ext cx="1466678" cy="4783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custDataLst>
      <p:tags r:id="rId7"/>
    </p:custDataLst>
    <p:extLst>
      <p:ext uri="{BB962C8B-B14F-4D97-AF65-F5344CB8AC3E}">
        <p14:creationId xmlns:p14="http://schemas.microsoft.com/office/powerpoint/2010/main" val="34789751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65" r:id="rId2"/>
    <p:sldLayoutId id="2147483666" r:id="rId3"/>
    <p:sldLayoutId id="2147483667" r:id="rId4"/>
    <p:sldLayoutId id="2147483668" r:id="rId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351792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3" r:id="rId1"/>
    <p:sldLayoutId id="2147483662" r:id="rId2"/>
    <p:sldLayoutId id="2147483663" r:id="rId3"/>
    <p:sldLayoutId id="2147483664" r:id="rId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6.xml"/><Relationship Id="rId1" Type="http://schemas.openxmlformats.org/officeDocument/2006/relationships/tags" Target="../tags/tag4.xml"/><Relationship Id="rId5" Type="http://schemas.openxmlformats.org/officeDocument/2006/relationships/image" Target="../media/image2.jpe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940A069D-B6C2-7B0A-6719-9C65A27E0952}"/>
              </a:ext>
            </a:extLst>
          </p:cNvPr>
          <p:cNvSpPr/>
          <p:nvPr/>
        </p:nvSpPr>
        <p:spPr>
          <a:xfrm>
            <a:off x="-32657" y="3429000"/>
            <a:ext cx="424543" cy="3429000"/>
          </a:xfrm>
          <a:prstGeom prst="rect">
            <a:avLst/>
          </a:prstGeom>
          <a:solidFill>
            <a:srgbClr val="34A75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55C78EFA-3B33-383D-31A6-F48EC0533950}"/>
              </a:ext>
            </a:extLst>
          </p:cNvPr>
          <p:cNvSpPr/>
          <p:nvPr/>
        </p:nvSpPr>
        <p:spPr>
          <a:xfrm>
            <a:off x="0" y="0"/>
            <a:ext cx="228600" cy="3429000"/>
          </a:xfrm>
          <a:prstGeom prst="rect">
            <a:avLst/>
          </a:prstGeom>
          <a:solidFill>
            <a:srgbClr val="26357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7DD7732-9B23-40F7-1FF7-FD50BDC193D8}"/>
              </a:ext>
            </a:extLst>
          </p:cNvPr>
          <p:cNvSpPr/>
          <p:nvPr/>
        </p:nvSpPr>
        <p:spPr>
          <a:xfrm>
            <a:off x="7913913" y="0"/>
            <a:ext cx="4985657" cy="31568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2DA2A85-6D5C-2987-0FF8-3AF240456D3B}"/>
              </a:ext>
            </a:extLst>
          </p:cNvPr>
          <p:cNvSpPr/>
          <p:nvPr/>
        </p:nvSpPr>
        <p:spPr>
          <a:xfrm>
            <a:off x="-32657" y="6509659"/>
            <a:ext cx="12888684" cy="348341"/>
          </a:xfrm>
          <a:prstGeom prst="rect">
            <a:avLst/>
          </a:prstGeom>
          <a:solidFill>
            <a:srgbClr val="34A75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050" name="Picture 2" descr="A black background with grey text&#10;&#10;AI-generated content may be incorrect.">
            <a:extLst>
              <a:ext uri="{FF2B5EF4-FFF2-40B4-BE49-F238E27FC236}">
                <a16:creationId xmlns:a16="http://schemas.microsoft.com/office/drawing/2014/main" id="{4D362339-2CD4-BEA9-8BCD-81A300A3C9C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7304" y="316620"/>
            <a:ext cx="1725854" cy="5629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91DC6ABD-215C-4EA8-A483-CEF5B99AB3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/>
        </p:nvSpPr>
        <p:spPr bwMode="white">
          <a:xfrm>
            <a:off x="0" y="0"/>
            <a:ext cx="12191999" cy="685736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GB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0F837936-4230-3A98-A2A1-6E77E027B36D}"/>
              </a:ext>
            </a:extLst>
          </p:cNvPr>
          <p:cNvSpPr>
            <a:spLocks noGrp="1"/>
          </p:cNvSpPr>
          <p:nvPr/>
        </p:nvSpPr>
        <p:spPr>
          <a:xfrm>
            <a:off x="517379" y="1343054"/>
            <a:ext cx="4705933" cy="2244208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77500" lnSpcReduction="2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2800" b="1" kern="1200" dirty="0">
                <a:latin typeface="+mj-lt"/>
                <a:ea typeface="+mj-ea"/>
                <a:cs typeface="+mj-cs"/>
              </a:rPr>
              <a:t>CAPSTONE </a:t>
            </a:r>
            <a:r>
              <a:rPr lang="en-US" sz="2800" b="1" dirty="0"/>
              <a:t>PROJECT</a:t>
            </a:r>
            <a:endParaRPr lang="en-US" sz="5100" dirty="0">
              <a:latin typeface="Aptos"/>
            </a:endParaRPr>
          </a:p>
          <a:p>
            <a:pPr algn="l"/>
            <a:br>
              <a:rPr lang="en-US" sz="5100" b="1" dirty="0"/>
            </a:br>
            <a:r>
              <a:rPr lang="en-US" sz="5200" dirty="0"/>
              <a:t>Retail Sales Analytics Dashboard using Power BI</a:t>
            </a:r>
            <a:endParaRPr lang="en-US" sz="5200" b="1" kern="1200" dirty="0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3A663A0C-3931-F8E6-391C-2FF1FDBB09CD}"/>
              </a:ext>
            </a:extLst>
          </p:cNvPr>
          <p:cNvSpPr>
            <a:spLocks noGrp="1"/>
          </p:cNvSpPr>
          <p:nvPr/>
        </p:nvSpPr>
        <p:spPr>
          <a:xfrm>
            <a:off x="597304" y="3568584"/>
            <a:ext cx="4369759" cy="280149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spcAft>
                <a:spcPts val="600"/>
              </a:spcAft>
            </a:pPr>
            <a:r>
              <a:rPr lang="en-US" sz="1600" b="1" cap="all" dirty="0"/>
              <a:t>Presented By</a:t>
            </a:r>
            <a:endParaRPr lang="en-US" sz="1600" cap="all" dirty="0"/>
          </a:p>
          <a:p>
            <a:pPr algn="l">
              <a:spcAft>
                <a:spcPts val="600"/>
              </a:spcAft>
            </a:pPr>
            <a:r>
              <a:rPr lang="en-US" sz="1600" b="1" cap="all" dirty="0"/>
              <a:t>Student Name: A. MOHAMMED ASSRARULLAH</a:t>
            </a:r>
          </a:p>
          <a:p>
            <a:pPr algn="l">
              <a:spcAft>
                <a:spcPts val="600"/>
              </a:spcAft>
            </a:pPr>
            <a:r>
              <a:rPr lang="en-US" sz="1600" b="1" cap="all" dirty="0"/>
              <a:t>College Name: B.S.  ABDUR RAHMAN CRESCENT INSTITUTE OF SCIENCE AND TECHNOLOGY</a:t>
            </a:r>
          </a:p>
          <a:p>
            <a:pPr algn="l">
              <a:spcAft>
                <a:spcPts val="600"/>
              </a:spcAft>
            </a:pPr>
            <a:r>
              <a:rPr lang="en-US" sz="1600" b="1" cap="all" dirty="0"/>
              <a:t>Department: B.TECH AIDS</a:t>
            </a:r>
          </a:p>
          <a:p>
            <a:pPr algn="l">
              <a:spcAft>
                <a:spcPts val="600"/>
              </a:spcAft>
            </a:pPr>
            <a:r>
              <a:rPr lang="en-US" sz="1600" b="1" cap="all" dirty="0"/>
              <a:t>Email ID: azizullahshabeena@gmail.com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4357C93-F0CB-4A1C-8F77-4E90637898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/>
        </p:nvSpPr>
        <p:spPr>
          <a:xfrm>
            <a:off x="5386598" y="269324"/>
            <a:ext cx="6116779" cy="6208776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GB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B4288F3F-AD4C-81EA-1336-D2C00EFCC47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9990" y="963029"/>
            <a:ext cx="4590784" cy="4936489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231033346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1E0E59-694D-9DFE-4488-37D5F2F480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191" y="698500"/>
            <a:ext cx="10515600" cy="1325563"/>
          </a:xfrm>
        </p:spPr>
        <p:txBody>
          <a:bodyPr lIns="91440" tIns="45720" rIns="91440" bIns="45720" anchor="t">
            <a:normAutofit/>
          </a:bodyPr>
          <a:lstStyle/>
          <a:p>
            <a:r>
              <a:rPr lang="en-US" sz="5400" b="1" cap="all" dirty="0">
                <a:latin typeface="Arial"/>
                <a:cs typeface="Arial"/>
              </a:rPr>
              <a:t>OUTLINE:</a:t>
            </a:r>
            <a:endParaRPr lang="en-US" sz="5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04173D-62A9-AF06-B476-EEB8270871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3387" y="1822228"/>
            <a:ext cx="10515600" cy="4251960"/>
          </a:xfrm>
        </p:spPr>
        <p:txBody>
          <a:bodyPr vert="horz" lIns="91440" tIns="45720" rIns="91440" bIns="45720" rtlCol="0">
            <a:normAutofit/>
          </a:bodyPr>
          <a:lstStyle/>
          <a:p>
            <a:pPr marL="305435" indent="-305435">
              <a:spcBef>
                <a:spcPct val="20000"/>
              </a:spcBef>
              <a:spcAft>
                <a:spcPts val="600"/>
              </a:spcAft>
            </a:pPr>
            <a:r>
              <a:rPr lang="en-US" sz="2200" b="1" dirty="0">
                <a:latin typeface="Arial"/>
                <a:cs typeface="Arial"/>
              </a:rPr>
              <a:t>Problem Statement </a:t>
            </a:r>
          </a:p>
          <a:p>
            <a:pPr marL="305435" indent="-305435">
              <a:spcBef>
                <a:spcPct val="20000"/>
              </a:spcBef>
              <a:spcAft>
                <a:spcPts val="600"/>
              </a:spcAft>
            </a:pPr>
            <a:r>
              <a:rPr lang="en-US" sz="2200" b="1" dirty="0">
                <a:latin typeface="Arial"/>
                <a:cs typeface="Arial"/>
              </a:rPr>
              <a:t>Proposed System/Solution</a:t>
            </a:r>
            <a:endParaRPr lang="en-US" sz="2200" dirty="0">
              <a:latin typeface="Arial"/>
              <a:cs typeface="Arial"/>
            </a:endParaRPr>
          </a:p>
          <a:p>
            <a:pPr marL="305435" indent="-305435">
              <a:spcBef>
                <a:spcPct val="20000"/>
              </a:spcBef>
              <a:spcAft>
                <a:spcPts val="600"/>
              </a:spcAft>
            </a:pPr>
            <a:r>
              <a:rPr lang="en-US" sz="2200" b="1" dirty="0">
                <a:latin typeface="Arial"/>
                <a:cs typeface="Arial"/>
              </a:rPr>
              <a:t>System Development Approach</a:t>
            </a:r>
            <a:endParaRPr lang="en-US" sz="2200" dirty="0">
              <a:latin typeface="Arial"/>
              <a:cs typeface="Arial"/>
            </a:endParaRPr>
          </a:p>
          <a:p>
            <a:pPr marL="305435" indent="-305435">
              <a:spcBef>
                <a:spcPct val="20000"/>
              </a:spcBef>
              <a:spcAft>
                <a:spcPts val="600"/>
              </a:spcAft>
            </a:pPr>
            <a:r>
              <a:rPr lang="en-US" sz="2200" b="1" dirty="0">
                <a:latin typeface="Arial"/>
                <a:cs typeface="Arial"/>
              </a:rPr>
              <a:t>Algorithm &amp; Deployment  </a:t>
            </a:r>
            <a:endParaRPr lang="en-US" sz="2200" dirty="0">
              <a:latin typeface="Arial"/>
              <a:cs typeface="Arial"/>
            </a:endParaRPr>
          </a:p>
          <a:p>
            <a:pPr marL="305435" indent="-305435">
              <a:spcBef>
                <a:spcPct val="20000"/>
              </a:spcBef>
              <a:spcAft>
                <a:spcPts val="600"/>
              </a:spcAft>
            </a:pPr>
            <a:r>
              <a:rPr lang="en-US" sz="2200" b="1" dirty="0">
                <a:latin typeface="Arial"/>
                <a:cs typeface="Arial"/>
              </a:rPr>
              <a:t>Result </a:t>
            </a:r>
          </a:p>
          <a:p>
            <a:pPr marL="305435" indent="-305435">
              <a:spcBef>
                <a:spcPct val="20000"/>
              </a:spcBef>
              <a:spcAft>
                <a:spcPts val="600"/>
              </a:spcAft>
            </a:pPr>
            <a:r>
              <a:rPr lang="en-US" sz="2200" b="1" dirty="0">
                <a:latin typeface="Arial"/>
                <a:cs typeface="Arial"/>
              </a:rPr>
              <a:t>Conclusion</a:t>
            </a:r>
            <a:endParaRPr lang="en-US" sz="2200" dirty="0">
              <a:latin typeface="Arial"/>
              <a:cs typeface="Arial"/>
            </a:endParaRPr>
          </a:p>
          <a:p>
            <a:pPr marL="305435" indent="-305435">
              <a:spcBef>
                <a:spcPct val="20000"/>
              </a:spcBef>
              <a:spcAft>
                <a:spcPts val="600"/>
              </a:spcAft>
            </a:pPr>
            <a:r>
              <a:rPr lang="en-US" sz="2200" b="1" dirty="0">
                <a:latin typeface="Arial"/>
                <a:cs typeface="Arial"/>
              </a:rPr>
              <a:t>Future Scope</a:t>
            </a:r>
            <a:endParaRPr lang="en-US" sz="2200" dirty="0">
              <a:latin typeface="Arial"/>
              <a:cs typeface="Arial"/>
            </a:endParaRPr>
          </a:p>
          <a:p>
            <a:pPr marL="305435" indent="-305435">
              <a:spcBef>
                <a:spcPct val="20000"/>
              </a:spcBef>
              <a:spcAft>
                <a:spcPts val="600"/>
              </a:spcAft>
            </a:pPr>
            <a:r>
              <a:rPr lang="en-US" sz="2200" b="1" dirty="0">
                <a:latin typeface="Arial"/>
                <a:cs typeface="Arial"/>
              </a:rPr>
              <a:t>References</a:t>
            </a:r>
            <a:endParaRPr lang="en-US" sz="2200" dirty="0">
              <a:latin typeface="Arial"/>
              <a:cs typeface="Arial"/>
            </a:endParaRPr>
          </a:p>
          <a:p>
            <a:endParaRPr lang="en-GB" sz="2200" dirty="0">
              <a:latin typeface="Aptos" panose="020B0004020202020204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8178747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39B35C-A00A-C6C7-8532-576758ED42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191" y="686594"/>
            <a:ext cx="10515600" cy="1325563"/>
          </a:xfrm>
        </p:spPr>
        <p:txBody>
          <a:bodyPr lIns="91440" tIns="45720" rIns="91440" bIns="45720" anchor="t">
            <a:normAutofit/>
          </a:bodyPr>
          <a:lstStyle/>
          <a:p>
            <a:r>
              <a:rPr lang="en-US" sz="4000" b="1" cap="all">
                <a:latin typeface="Arial"/>
                <a:cs typeface="Arial"/>
              </a:rPr>
              <a:t>Problem Statement:</a:t>
            </a:r>
            <a:endParaRPr lang="en-US" sz="400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E8C97F-5AC9-F1CA-3CCC-090D5B1398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0512" y="1715071"/>
            <a:ext cx="10515600" cy="4251960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US" sz="2400" dirty="0"/>
              <a:t>Retail companies generate large volumes of sales data every day. Without analytical insights, decision makers struggle to answer critical questions such as:</a:t>
            </a:r>
          </a:p>
          <a:p>
            <a:r>
              <a:rPr lang="en-US" sz="2400" dirty="0"/>
              <a:t>Which products generate the highest revenue?</a:t>
            </a:r>
          </a:p>
          <a:p>
            <a:r>
              <a:rPr lang="en-US" sz="2400" dirty="0"/>
              <a:t>Which store locations perform well?</a:t>
            </a:r>
          </a:p>
          <a:p>
            <a:r>
              <a:rPr lang="en-US" sz="2400" dirty="0"/>
              <a:t>What is the sales trend over time?</a:t>
            </a:r>
          </a:p>
          <a:p>
            <a:r>
              <a:rPr lang="en-US" sz="2400" dirty="0"/>
              <a:t>Which customer segment drives profitability?</a:t>
            </a:r>
          </a:p>
          <a:p>
            <a:r>
              <a:rPr lang="en-US" sz="2400" dirty="0"/>
              <a:t>Lack of visibility leads to inaccurate forecasting and inefficient business planning.</a:t>
            </a:r>
          </a:p>
        </p:txBody>
      </p:sp>
    </p:spTree>
    <p:extLst>
      <p:ext uri="{BB962C8B-B14F-4D97-AF65-F5344CB8AC3E}">
        <p14:creationId xmlns:p14="http://schemas.microsoft.com/office/powerpoint/2010/main" val="33729142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27B4B1-584E-2479-D762-2265C7398D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191" y="603250"/>
            <a:ext cx="10515600" cy="1325563"/>
          </a:xfrm>
        </p:spPr>
        <p:txBody>
          <a:bodyPr lIns="91440" tIns="45720" rIns="91440" bIns="45720" anchor="t">
            <a:normAutofit/>
          </a:bodyPr>
          <a:lstStyle/>
          <a:p>
            <a:r>
              <a:rPr lang="en-US" sz="4000" b="1" cap="all">
                <a:latin typeface="Arial"/>
                <a:cs typeface="Arial"/>
              </a:rPr>
              <a:t>Proposed Solution:</a:t>
            </a:r>
            <a:endParaRPr lang="en-US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67202D-4065-DDD7-98F1-4291C536D1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8881" y="1567521"/>
            <a:ext cx="6824820" cy="4582069"/>
          </a:xfr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sz="2400" dirty="0"/>
              <a:t>To address this issue, a </a:t>
            </a:r>
            <a:r>
              <a:rPr lang="en-US" sz="2400" b="1" dirty="0"/>
              <a:t>Power BI–based Retail Sales Analytics Dashboard</a:t>
            </a:r>
            <a:r>
              <a:rPr lang="en-US" sz="2400" dirty="0"/>
              <a:t> is proposed.</a:t>
            </a:r>
          </a:p>
          <a:p>
            <a:r>
              <a:rPr lang="en-US" sz="2400" dirty="0"/>
              <a:t>The system aims to:</a:t>
            </a:r>
          </a:p>
          <a:p>
            <a:r>
              <a:rPr lang="en-US" sz="2400" dirty="0"/>
              <a:t>✔ Collect &amp; clean retail sales data</a:t>
            </a:r>
            <a:br>
              <a:rPr lang="en-US" sz="2400" dirty="0"/>
            </a:br>
            <a:r>
              <a:rPr lang="en-US" sz="2400" dirty="0"/>
              <a:t>✔ Model necessary business dimensions</a:t>
            </a:r>
            <a:br>
              <a:rPr lang="en-US" sz="2400" dirty="0"/>
            </a:br>
            <a:r>
              <a:rPr lang="en-US" sz="2400" dirty="0"/>
              <a:t>✔ Create interactive visual reports</a:t>
            </a:r>
            <a:br>
              <a:rPr lang="en-US" sz="2400" dirty="0"/>
            </a:br>
            <a:r>
              <a:rPr lang="en-US" sz="2400" dirty="0"/>
              <a:t>✔ Provide key business insights for decision making</a:t>
            </a:r>
          </a:p>
          <a:p>
            <a:r>
              <a:rPr lang="en-US" sz="2400" dirty="0"/>
              <a:t>This enables data-driven performance monitoring and strategic planning.</a:t>
            </a:r>
          </a:p>
        </p:txBody>
      </p:sp>
    </p:spTree>
    <p:extLst>
      <p:ext uri="{BB962C8B-B14F-4D97-AF65-F5344CB8AC3E}">
        <p14:creationId xmlns:p14="http://schemas.microsoft.com/office/powerpoint/2010/main" val="20413963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292D15-41B4-89C1-0EA3-03BC9FA16F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548" y="699528"/>
            <a:ext cx="10515600" cy="1325563"/>
          </a:xfrm>
        </p:spPr>
        <p:txBody>
          <a:bodyPr lIns="91440" tIns="45720" rIns="91440" bIns="45720" anchor="t">
            <a:normAutofit/>
          </a:bodyPr>
          <a:lstStyle/>
          <a:p>
            <a:r>
              <a:rPr lang="en-US" sz="4000" b="1" cap="all">
                <a:latin typeface="Arial"/>
                <a:cs typeface="Arial"/>
              </a:rPr>
              <a:t>System  Approach:</a:t>
            </a:r>
            <a:endParaRPr lang="en-US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07E8EE-7F26-D809-3523-C58876935A4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6877" y="1383990"/>
            <a:ext cx="11077422" cy="5137390"/>
          </a:xfrm>
        </p:spPr>
        <p:txBody>
          <a:bodyPr vert="horz" lIns="91440" tIns="45720" rIns="91440" bIns="45720" rtlCol="0">
            <a:noAutofit/>
          </a:bodyPr>
          <a:lstStyle/>
          <a:p>
            <a:r>
              <a:rPr lang="en-IN" sz="1200" b="1" dirty="0"/>
              <a:t>Dataset Used:</a:t>
            </a:r>
            <a:r>
              <a:rPr lang="en-IN" sz="1200" dirty="0"/>
              <a:t> Retail Sales Transactions (CSV / Excel)</a:t>
            </a:r>
            <a:br>
              <a:rPr lang="en-IN" sz="1200" dirty="0"/>
            </a:br>
            <a:r>
              <a:rPr lang="en-IN" sz="1200" b="1" dirty="0"/>
              <a:t>Business Dimensions:</a:t>
            </a:r>
            <a:endParaRPr lang="en-IN" sz="1200" dirty="0"/>
          </a:p>
          <a:p>
            <a:r>
              <a:rPr lang="en-IN" sz="1200" dirty="0"/>
              <a:t>Product</a:t>
            </a:r>
          </a:p>
          <a:p>
            <a:r>
              <a:rPr lang="en-IN" sz="1200" dirty="0"/>
              <a:t>Category</a:t>
            </a:r>
          </a:p>
          <a:p>
            <a:r>
              <a:rPr lang="en-IN" sz="1200" dirty="0"/>
              <a:t>Customer</a:t>
            </a:r>
          </a:p>
          <a:p>
            <a:r>
              <a:rPr lang="en-IN" sz="1200" dirty="0"/>
              <a:t>Store</a:t>
            </a:r>
          </a:p>
          <a:p>
            <a:r>
              <a:rPr lang="en-IN" sz="1200" dirty="0"/>
              <a:t>Time</a:t>
            </a:r>
          </a:p>
          <a:p>
            <a:r>
              <a:rPr lang="en-IN" sz="1200" b="1" dirty="0"/>
              <a:t>Tools &amp; Technologies:</a:t>
            </a:r>
            <a:endParaRPr lang="en-IN" sz="1200" dirty="0"/>
          </a:p>
          <a:p>
            <a:r>
              <a:rPr lang="en-IN" sz="1200" dirty="0"/>
              <a:t>Microsoft Power BI</a:t>
            </a:r>
          </a:p>
          <a:p>
            <a:r>
              <a:rPr lang="en-IN" sz="1200" dirty="0"/>
              <a:t>Power Query</a:t>
            </a:r>
          </a:p>
          <a:p>
            <a:r>
              <a:rPr lang="en-IN" sz="1200" dirty="0"/>
              <a:t>DAX (Data Analysis Expressions)</a:t>
            </a:r>
          </a:p>
          <a:p>
            <a:r>
              <a:rPr lang="en-IN" sz="1200" dirty="0"/>
              <a:t>Excel/CSV dataset</a:t>
            </a:r>
          </a:p>
          <a:p>
            <a:r>
              <a:rPr lang="en-IN" sz="1200" b="1" dirty="0"/>
              <a:t>Tasks Performed:</a:t>
            </a:r>
            <a:endParaRPr lang="en-IN" sz="1200" dirty="0"/>
          </a:p>
          <a:p>
            <a:r>
              <a:rPr lang="en-IN" sz="1200" dirty="0"/>
              <a:t>Data Import</a:t>
            </a:r>
          </a:p>
          <a:p>
            <a:r>
              <a:rPr lang="en-IN" sz="1200" dirty="0"/>
              <a:t>Data Cleaning &amp; Transformation</a:t>
            </a:r>
          </a:p>
          <a:p>
            <a:r>
              <a:rPr lang="en-IN" sz="1200" dirty="0"/>
              <a:t>Data </a:t>
            </a:r>
            <a:r>
              <a:rPr lang="en-IN" sz="1200" dirty="0" err="1"/>
              <a:t>Modeling</a:t>
            </a:r>
            <a:endParaRPr lang="en-IN" sz="1200" dirty="0"/>
          </a:p>
          <a:p>
            <a:r>
              <a:rPr lang="en-IN" sz="1200" dirty="0"/>
              <a:t>Report &amp; Dashboard Designing</a:t>
            </a:r>
          </a:p>
          <a:p>
            <a:r>
              <a:rPr lang="en-IN" sz="1200" dirty="0"/>
              <a:t>Insights Generation</a:t>
            </a:r>
          </a:p>
        </p:txBody>
      </p:sp>
    </p:spTree>
    <p:extLst>
      <p:ext uri="{BB962C8B-B14F-4D97-AF65-F5344CB8AC3E}">
        <p14:creationId xmlns:p14="http://schemas.microsoft.com/office/powerpoint/2010/main" val="350112512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3DBEE6-616C-2711-86DB-C62E77D17F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191" y="686594"/>
            <a:ext cx="10515600" cy="1325563"/>
          </a:xfrm>
        </p:spPr>
        <p:txBody>
          <a:bodyPr lIns="91440" tIns="45720" rIns="91440" bIns="45720" anchor="t">
            <a:normAutofit/>
          </a:bodyPr>
          <a:lstStyle/>
          <a:p>
            <a:r>
              <a:rPr lang="en-US" sz="4000" b="1" cap="all">
                <a:latin typeface="Arial"/>
                <a:cs typeface="Arial"/>
              </a:rPr>
              <a:t>Algorithm &amp; Deployment:</a:t>
            </a:r>
            <a:endParaRPr lang="en-US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107410-DE3D-5F62-F9D7-11EAEA92F0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6700" y="1572196"/>
            <a:ext cx="10515600" cy="4251960"/>
          </a:xfrm>
        </p:spPr>
        <p:txBody>
          <a:bodyPr vert="horz" lIns="91440" tIns="45720" rIns="91440" bIns="45720" rtlCol="0">
            <a:normAutofit lnSpcReduction="10000"/>
          </a:bodyPr>
          <a:lstStyle/>
          <a:p>
            <a:r>
              <a:rPr lang="en-US" sz="1600" b="1" dirty="0"/>
              <a:t>Data Modeling Approach:</a:t>
            </a:r>
            <a:endParaRPr lang="en-US" sz="1600" dirty="0"/>
          </a:p>
          <a:p>
            <a:r>
              <a:rPr lang="en-US" sz="1600" dirty="0"/>
              <a:t>Snowflake Model / Star Schema</a:t>
            </a:r>
          </a:p>
          <a:p>
            <a:r>
              <a:rPr lang="en-US" sz="1600" dirty="0"/>
              <a:t>Relationships between Fact &amp; Dimension tables</a:t>
            </a:r>
          </a:p>
          <a:p>
            <a:r>
              <a:rPr lang="en-US" sz="1600" b="1" dirty="0"/>
              <a:t>DAX Measures Applied:</a:t>
            </a:r>
            <a:endParaRPr lang="en-US" sz="1600" dirty="0"/>
          </a:p>
          <a:p>
            <a:r>
              <a:rPr lang="en-US" sz="1600" dirty="0"/>
              <a:t>Total Sales</a:t>
            </a:r>
          </a:p>
          <a:p>
            <a:r>
              <a:rPr lang="en-US" sz="1600" dirty="0"/>
              <a:t>Profit</a:t>
            </a:r>
          </a:p>
          <a:p>
            <a:r>
              <a:rPr lang="en-US" sz="1600" dirty="0"/>
              <a:t>Profit Margin</a:t>
            </a:r>
          </a:p>
          <a:p>
            <a:r>
              <a:rPr lang="en-US" sz="1600" dirty="0"/>
              <a:t>Sales Growth %</a:t>
            </a:r>
          </a:p>
          <a:p>
            <a:r>
              <a:rPr lang="en-US" sz="1600" dirty="0"/>
              <a:t>Category-wise Performance</a:t>
            </a:r>
          </a:p>
          <a:p>
            <a:r>
              <a:rPr lang="en-US" sz="1600" dirty="0"/>
              <a:t>Monthly Trends</a:t>
            </a:r>
          </a:p>
          <a:p>
            <a:r>
              <a:rPr lang="en-US" sz="1600" b="1" dirty="0"/>
              <a:t>Deployment:</a:t>
            </a:r>
            <a:endParaRPr lang="en-US" sz="1600" dirty="0"/>
          </a:p>
          <a:p>
            <a:r>
              <a:rPr lang="en-US" sz="1600" dirty="0"/>
              <a:t>Dashboard published to Power BI Service (Optional)</a:t>
            </a:r>
          </a:p>
          <a:p>
            <a:r>
              <a:rPr lang="en-US" sz="1600" dirty="0"/>
              <a:t>Can be shared with business stakeholders for KPI tracking</a:t>
            </a:r>
          </a:p>
        </p:txBody>
      </p:sp>
    </p:spTree>
    <p:extLst>
      <p:ext uri="{BB962C8B-B14F-4D97-AF65-F5344CB8AC3E}">
        <p14:creationId xmlns:p14="http://schemas.microsoft.com/office/powerpoint/2010/main" val="11990843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8F756E-D4E1-5A9A-636A-7FA06EC394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191" y="603250"/>
            <a:ext cx="10515600" cy="1325563"/>
          </a:xfrm>
        </p:spPr>
        <p:txBody>
          <a:bodyPr lIns="91440" tIns="45720" rIns="91440" bIns="45720" anchor="t">
            <a:normAutofit/>
          </a:bodyPr>
          <a:lstStyle/>
          <a:p>
            <a:r>
              <a:rPr lang="en-US" sz="4000" b="1" cap="all">
                <a:latin typeface="Arial"/>
                <a:cs typeface="Arial"/>
              </a:rPr>
              <a:t>Result:</a:t>
            </a:r>
            <a:endParaRPr lang="en-US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102C9B-C4AF-D0DB-DE74-862D981200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8137" y="1584103"/>
            <a:ext cx="10515600" cy="4251960"/>
          </a:xfrm>
        </p:spPr>
        <p:txBody>
          <a:bodyPr vert="horz" lIns="91440" tIns="45720" rIns="91440" bIns="45720" rtlCol="0">
            <a:normAutofit/>
          </a:bodyPr>
          <a:lstStyle/>
          <a:p>
            <a:pPr marL="0" indent="0">
              <a:buNone/>
            </a:pPr>
            <a:r>
              <a:rPr lang="en-IN" sz="2200" dirty="0">
                <a:latin typeface="Franklin Gothic Book"/>
              </a:rPr>
              <a:t>.</a:t>
            </a:r>
            <a:endParaRPr lang="en-US" sz="22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60119BB-3371-9EE7-BF80-824F3798588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483" y="1584103"/>
            <a:ext cx="11414503" cy="46959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74253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B396BB-D4E8-514D-53F4-27AADA666C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548" y="606334"/>
            <a:ext cx="10515600" cy="1325563"/>
          </a:xfrm>
        </p:spPr>
        <p:txBody>
          <a:bodyPr lIns="91440" tIns="45720" rIns="91440" bIns="45720" anchor="t">
            <a:normAutofit/>
          </a:bodyPr>
          <a:lstStyle/>
          <a:p>
            <a:r>
              <a:rPr lang="en-US" sz="4000" b="1" cap="all">
                <a:latin typeface="Arial"/>
                <a:cs typeface="Arial"/>
              </a:rPr>
              <a:t>Conclusion:</a:t>
            </a:r>
            <a:endParaRPr lang="en-US" sz="4000" dirty="0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53E2A7E3-29EB-7554-3D10-5F750F6607DE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61454" y="1655303"/>
            <a:ext cx="8636147" cy="20955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r>
              <a:rPr lang="en-US" sz="1800" dirty="0"/>
              <a:t>The project successfully demonstrates the use of </a:t>
            </a:r>
            <a:r>
              <a:rPr lang="en-US" sz="1800" b="1" dirty="0"/>
              <a:t>Power BI for business analytics</a:t>
            </a:r>
            <a:r>
              <a:rPr lang="en-US" sz="1800" dirty="0"/>
              <a:t>.</a:t>
            </a:r>
            <a:br>
              <a:rPr lang="en-US" sz="1800" dirty="0"/>
            </a:br>
            <a:r>
              <a:rPr lang="en-US" sz="1800" dirty="0"/>
              <a:t>Interactive dashboards enable decision makers to:</a:t>
            </a:r>
          </a:p>
          <a:p>
            <a:r>
              <a:rPr lang="en-US" sz="1800" dirty="0"/>
              <a:t>✔ Monitor performance</a:t>
            </a:r>
            <a:br>
              <a:rPr lang="en-US" sz="1800" dirty="0"/>
            </a:br>
            <a:r>
              <a:rPr lang="en-US" sz="1800" dirty="0"/>
              <a:t>✔ Identify trends</a:t>
            </a:r>
            <a:br>
              <a:rPr lang="en-US" sz="1800" dirty="0"/>
            </a:br>
            <a:r>
              <a:rPr lang="en-US" sz="1800" dirty="0"/>
              <a:t>✔ Improve forecasting</a:t>
            </a:r>
            <a:br>
              <a:rPr lang="en-US" sz="1800" dirty="0"/>
            </a:br>
            <a:r>
              <a:rPr lang="en-US" sz="1800" dirty="0"/>
              <a:t>✔ Strengthen business strategies</a:t>
            </a:r>
          </a:p>
          <a:p>
            <a:r>
              <a:rPr lang="en-US" sz="1800" dirty="0"/>
              <a:t>Thus, Power BI proves to be an effective BI tool for retail analytics.</a:t>
            </a:r>
          </a:p>
        </p:txBody>
      </p:sp>
    </p:spTree>
    <p:extLst>
      <p:ext uri="{BB962C8B-B14F-4D97-AF65-F5344CB8AC3E}">
        <p14:creationId xmlns:p14="http://schemas.microsoft.com/office/powerpoint/2010/main" val="224530960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D403C0-6D6C-CF0D-D01B-94F3DED1DC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548" y="606334"/>
            <a:ext cx="10515600" cy="1325563"/>
          </a:xfrm>
        </p:spPr>
        <p:txBody>
          <a:bodyPr lIns="91440" tIns="45720" rIns="91440" bIns="45720" anchor="t">
            <a:normAutofit/>
          </a:bodyPr>
          <a:lstStyle/>
          <a:p>
            <a:r>
              <a:rPr lang="en-US" sz="4000" b="1" cap="all">
                <a:latin typeface="Arial"/>
                <a:cs typeface="Arial"/>
              </a:rPr>
              <a:t>Future scope:</a:t>
            </a:r>
            <a:endParaRPr lang="en-US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2C79AB-5BF9-3911-CAE8-5E44B0DF22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8071" y="1304434"/>
            <a:ext cx="10515600" cy="4251960"/>
          </a:xfrm>
        </p:spPr>
        <p:txBody>
          <a:bodyPr vert="horz" lIns="91440" tIns="45720" rIns="91440" bIns="45720" rtlCol="0">
            <a:normAutofit/>
          </a:bodyPr>
          <a:lstStyle/>
          <a:p>
            <a:pPr marL="0" indent="0">
              <a:spcBef>
                <a:spcPct val="20000"/>
              </a:spcBef>
              <a:spcAft>
                <a:spcPts val="600"/>
              </a:spcAft>
              <a:buNone/>
            </a:pPr>
            <a:endParaRPr lang="en-US" sz="2200" dirty="0">
              <a:latin typeface="Franklin Gothic Book"/>
            </a:endParaRPr>
          </a:p>
          <a:p>
            <a:r>
              <a:rPr lang="en-US" sz="2400" dirty="0"/>
              <a:t>The solution can be extended by:</a:t>
            </a:r>
          </a:p>
          <a:p>
            <a:r>
              <a:rPr lang="en-US" sz="2400" dirty="0"/>
              <a:t>➡ Adding forecast models using DAX or ML</a:t>
            </a:r>
            <a:br>
              <a:rPr lang="en-US" sz="2400" dirty="0"/>
            </a:br>
            <a:r>
              <a:rPr lang="en-US" sz="2400" dirty="0"/>
              <a:t>➡ Integrating live sales database</a:t>
            </a:r>
            <a:br>
              <a:rPr lang="en-US" sz="2400" dirty="0"/>
            </a:br>
            <a:r>
              <a:rPr lang="en-US" sz="2400" dirty="0"/>
              <a:t>➡ Building automated reporting pipelines</a:t>
            </a:r>
            <a:br>
              <a:rPr lang="en-US" sz="2400" dirty="0"/>
            </a:br>
            <a:r>
              <a:rPr lang="en-US" sz="2400" dirty="0"/>
              <a:t>➡ Expanding to multiple retail regions</a:t>
            </a:r>
            <a:br>
              <a:rPr lang="en-US" sz="2400" dirty="0"/>
            </a:br>
            <a:r>
              <a:rPr lang="en-US" sz="2400" dirty="0"/>
              <a:t>➡ Adding customer churn &amp; lifetime value analytics</a:t>
            </a:r>
          </a:p>
          <a:p>
            <a:pPr marL="0" indent="0">
              <a:buNone/>
            </a:pPr>
            <a:endParaRPr lang="en-GB" sz="2200" dirty="0"/>
          </a:p>
        </p:txBody>
      </p:sp>
    </p:spTree>
    <p:extLst>
      <p:ext uri="{BB962C8B-B14F-4D97-AF65-F5344CB8AC3E}">
        <p14:creationId xmlns:p14="http://schemas.microsoft.com/office/powerpoint/2010/main" val="37441996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9D7BEC-26CE-96DB-DC10-B2897FA510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548" y="606334"/>
            <a:ext cx="10515600" cy="1325563"/>
          </a:xfrm>
        </p:spPr>
        <p:txBody>
          <a:bodyPr lIns="91440" tIns="45720" rIns="91440" bIns="45720" anchor="t">
            <a:normAutofit/>
          </a:bodyPr>
          <a:lstStyle/>
          <a:p>
            <a:r>
              <a:rPr lang="en-US" sz="4000" b="1" cap="all">
                <a:latin typeface="Arial"/>
                <a:cs typeface="Arial"/>
              </a:rPr>
              <a:t>References:</a:t>
            </a:r>
            <a:endParaRPr lang="en-US" sz="400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6198D1-2392-A218-1A4C-10F40FCB82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6804" y="1551125"/>
            <a:ext cx="10515600" cy="4251960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en-IN" sz="2200" u="sng" dirty="0">
              <a:solidFill>
                <a:srgbClr val="0070C0"/>
              </a:solidFill>
              <a:latin typeface="Franklin Gothic Book"/>
            </a:endParaRPr>
          </a:p>
          <a:p>
            <a:pPr marL="0" indent="0">
              <a:buNone/>
            </a:pPr>
            <a:endParaRPr lang="en-IN" sz="2200" dirty="0">
              <a:latin typeface="Franklin Gothic Book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576222E-76D6-A1E6-2232-0FEDCB857798}"/>
              </a:ext>
            </a:extLst>
          </p:cNvPr>
          <p:cNvSpPr txBox="1"/>
          <p:nvPr/>
        </p:nvSpPr>
        <p:spPr>
          <a:xfrm>
            <a:off x="196804" y="1676359"/>
            <a:ext cx="6204856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Microsoft Power BI Documentation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Dataset (Retail Store) / Kaggle / UCI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Power Query Docs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DAX Function References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lang="en-US" altLang="en-US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GITHUB LINK: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9170067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D143E5-DB51-E32C-9252-0ED5EF2884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DE97B5AD-3B10-086C-32EF-8A2EAD5287C2}"/>
              </a:ext>
            </a:extLst>
          </p:cNvPr>
          <p:cNvSpPr txBox="1">
            <a:spLocks/>
          </p:cNvSpPr>
          <p:nvPr/>
        </p:nvSpPr>
        <p:spPr>
          <a:xfrm>
            <a:off x="314324" y="6312352"/>
            <a:ext cx="3724275" cy="295275"/>
          </a:xfrm>
          <a:prstGeom prst="rect">
            <a:avLst/>
          </a:prstGeom>
        </p:spPr>
        <p:txBody>
          <a:bodyPr/>
          <a:lstStyle>
            <a:lvl1pPr marL="228611" indent="-228611" algn="l" defTabSz="60963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13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95325" indent="-190510" algn="l" defTabSz="60963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18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62038" indent="-152408" algn="l" defTabSz="60963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66853" indent="-152408" algn="l" defTabSz="60963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133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69" indent="-152408" algn="l" defTabSz="60963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133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76484" indent="-152408" algn="l" defTabSz="60963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33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981299" indent="-152408" algn="l" defTabSz="60963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33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286114" indent="-152408" algn="l" defTabSz="60963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33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590930" indent="-152408" algn="l" defTabSz="60963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33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73736" indent="-173736">
              <a:buFont typeface="Arial" pitchFamily="34" charset="0"/>
              <a:buNone/>
            </a:pPr>
            <a:endParaRPr lang="en-US" sz="14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Title 3">
            <a:extLst>
              <a:ext uri="{FF2B5EF4-FFF2-40B4-BE49-F238E27FC236}">
                <a16:creationId xmlns:a16="http://schemas.microsoft.com/office/drawing/2014/main" id="{AFC7433E-E155-E68D-4C00-FCB38967C6F9}"/>
              </a:ext>
            </a:extLst>
          </p:cNvPr>
          <p:cNvSpPr txBox="1">
            <a:spLocks/>
          </p:cNvSpPr>
          <p:nvPr/>
        </p:nvSpPr>
        <p:spPr>
          <a:xfrm>
            <a:off x="3247621" y="3009471"/>
            <a:ext cx="5696757" cy="839057"/>
          </a:xfrm>
          <a:prstGeom prst="rect">
            <a:avLst/>
          </a:prstGeom>
        </p:spPr>
        <p:txBody>
          <a:bodyPr lIns="91440" tIns="45720" rIns="91440" bIns="45720" anchor="t"/>
          <a:lstStyle>
            <a:lvl1pPr algn="ctr" defTabSz="609630" rtl="0" eaLnBrk="1" latinLnBrk="0" hangingPunct="1">
              <a:spcBef>
                <a:spcPct val="0"/>
              </a:spcBef>
              <a:buNone/>
              <a:defRPr sz="2933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800" b="1">
                <a:solidFill>
                  <a:srgbClr val="002060"/>
                </a:solidFill>
                <a:latin typeface="Arial"/>
                <a:cs typeface="Arial"/>
              </a:rPr>
              <a:t>Thank You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544602034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DESIGN_ID_1_OFFICE THEME" val="TmdBxN3j"/>
  <p:tag name="ARTICULATE_PROJECT_OPEN" val="0"/>
  <p:tag name="ARTICULATE_SLIDE_COUNT" val="9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heme/theme1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</TotalTime>
  <Words>441</Words>
  <Application>Microsoft Office PowerPoint</Application>
  <PresentationFormat>Widescreen</PresentationFormat>
  <Paragraphs>80</Paragraphs>
  <Slides>11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11</vt:i4>
      </vt:variant>
    </vt:vector>
  </HeadingPairs>
  <TitlesOfParts>
    <vt:vector size="17" baseType="lpstr">
      <vt:lpstr>Aptos</vt:lpstr>
      <vt:lpstr>Arial</vt:lpstr>
      <vt:lpstr>Calibri</vt:lpstr>
      <vt:lpstr>Franklin Gothic Book</vt:lpstr>
      <vt:lpstr>1_Office Theme</vt:lpstr>
      <vt:lpstr>Custom Design</vt:lpstr>
      <vt:lpstr>PowerPoint Presentation</vt:lpstr>
      <vt:lpstr>OUTLINE:</vt:lpstr>
      <vt:lpstr>Problem Statement:</vt:lpstr>
      <vt:lpstr>Proposed Solution:</vt:lpstr>
      <vt:lpstr>System  Approach:</vt:lpstr>
      <vt:lpstr>Algorithm &amp; Deployment:</vt:lpstr>
      <vt:lpstr>Result:</vt:lpstr>
      <vt:lpstr>Conclusion:</vt:lpstr>
      <vt:lpstr>Future scope:</vt:lpstr>
      <vt:lpstr>References: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Vikrant Nath Nagar</dc:creator>
  <cp:lastModifiedBy>Mohammed Assrarullah</cp:lastModifiedBy>
  <cp:revision>100</cp:revision>
  <dcterms:created xsi:type="dcterms:W3CDTF">2024-05-21T11:55:07Z</dcterms:created>
  <dcterms:modified xsi:type="dcterms:W3CDTF">2026-01-15T09:08:56Z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rticulateGUID">
    <vt:lpwstr>8775663C-0243-495A-BCAB-F653BDE41EC7</vt:lpwstr>
  </property>
  <property fmtid="{D5CDD505-2E9C-101B-9397-08002B2CF9AE}" pid="3" name="ArticulatePath">
    <vt:lpwstr>https://edunetfoundationorg-my.sharepoint.com/personal/kaisar_edunetfoundation_org/Documents/Beutified ppt/MSITI/Micro Degree/Content/Module 4 Data Science/PPT/1. Introduction to Data Science</vt:lpwstr>
  </property>
</Properties>
</file>