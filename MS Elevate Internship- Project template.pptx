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4A5AE8-2D63-4BEA-A957-7E3FC43DE60D}" v="31" dt="2026-01-15T09:13:09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76" d="100"/>
          <a:sy n="76" d="100"/>
        </p:scale>
        <p:origin x="134" y="197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ssrarullah" userId="7d748f2b39fd4dc8" providerId="LiveId" clId="{66741519-9FB6-4005-ABF4-A26A19847B56}"/>
    <pc:docChg chg="custSel modSld">
      <pc:chgData name="Mohammed Assrarullah" userId="7d748f2b39fd4dc8" providerId="LiveId" clId="{66741519-9FB6-4005-ABF4-A26A19847B56}" dt="2026-01-15T09:13:09.885" v="460"/>
      <pc:docMkLst>
        <pc:docMk/>
      </pc:docMkLst>
      <pc:sldChg chg="modSp mod">
        <pc:chgData name="Mohammed Assrarullah" userId="7d748f2b39fd4dc8" providerId="LiveId" clId="{66741519-9FB6-4005-ABF4-A26A19847B56}" dt="2026-01-15T07:35:27.554" v="345" actId="1076"/>
        <pc:sldMkLst>
          <pc:docMk/>
          <pc:sldMk cId="2310333463" sldId="256"/>
        </pc:sldMkLst>
        <pc:spChg chg="mod">
          <ac:chgData name="Mohammed Assrarullah" userId="7d748f2b39fd4dc8" providerId="LiveId" clId="{66741519-9FB6-4005-ABF4-A26A19847B56}" dt="2026-01-15T07:31:47.930" v="3" actId="255"/>
          <ac:spMkLst>
            <pc:docMk/>
            <pc:sldMk cId="2310333463" sldId="256"/>
            <ac:spMk id="3" creationId="{0F837936-4230-3A98-A2A1-6E77E027B36D}"/>
          </ac:spMkLst>
        </pc:spChg>
        <pc:spChg chg="mod">
          <ac:chgData name="Mohammed Assrarullah" userId="7d748f2b39fd4dc8" providerId="LiveId" clId="{66741519-9FB6-4005-ABF4-A26A19847B56}" dt="2026-01-15T07:35:27.554" v="345" actId="1076"/>
          <ac:spMkLst>
            <pc:docMk/>
            <pc:sldMk cId="2310333463" sldId="256"/>
            <ac:spMk id="5" creationId="{3A663A0C-3931-F8E6-391C-2FF1FDBB09CD}"/>
          </ac:spMkLst>
        </pc:spChg>
      </pc:sldChg>
      <pc:sldChg chg="modSp mod">
        <pc:chgData name="Mohammed Assrarullah" userId="7d748f2b39fd4dc8" providerId="LiveId" clId="{66741519-9FB6-4005-ABF4-A26A19847B56}" dt="2026-01-15T07:36:08.085" v="350" actId="20577"/>
        <pc:sldMkLst>
          <pc:docMk/>
          <pc:sldMk cId="2817874764" sldId="571"/>
        </pc:sldMkLst>
        <pc:spChg chg="mod">
          <ac:chgData name="Mohammed Assrarullah" userId="7d748f2b39fd4dc8" providerId="LiveId" clId="{66741519-9FB6-4005-ABF4-A26A19847B56}" dt="2026-01-15T07:36:08.085" v="350" actId="20577"/>
          <ac:spMkLst>
            <pc:docMk/>
            <pc:sldMk cId="2817874764" sldId="571"/>
            <ac:spMk id="3" creationId="{1C04173D-62A9-AF06-B476-EEB827087147}"/>
          </ac:spMkLst>
        </pc:spChg>
      </pc:sldChg>
      <pc:sldChg chg="modSp">
        <pc:chgData name="Mohammed Assrarullah" userId="7d748f2b39fd4dc8" providerId="LiveId" clId="{66741519-9FB6-4005-ABF4-A26A19847B56}" dt="2026-01-15T07:36:26.687" v="351"/>
        <pc:sldMkLst>
          <pc:docMk/>
          <pc:sldMk cId="3372914246" sldId="572"/>
        </pc:sldMkLst>
        <pc:spChg chg="mod">
          <ac:chgData name="Mohammed Assrarullah" userId="7d748f2b39fd4dc8" providerId="LiveId" clId="{66741519-9FB6-4005-ABF4-A26A19847B56}" dt="2026-01-15T07:36:26.687" v="351"/>
          <ac:spMkLst>
            <pc:docMk/>
            <pc:sldMk cId="3372914246" sldId="572"/>
            <ac:spMk id="3" creationId="{28E8C97F-5AC9-F1CA-3CCC-090D5B13989A}"/>
          </ac:spMkLst>
        </pc:spChg>
      </pc:sldChg>
      <pc:sldChg chg="modSp mod">
        <pc:chgData name="Mohammed Assrarullah" userId="7d748f2b39fd4dc8" providerId="LiveId" clId="{66741519-9FB6-4005-ABF4-A26A19847B56}" dt="2026-01-15T07:37:58.407" v="360" actId="14100"/>
        <pc:sldMkLst>
          <pc:docMk/>
          <pc:sldMk cId="204139634" sldId="573"/>
        </pc:sldMkLst>
        <pc:spChg chg="mod">
          <ac:chgData name="Mohammed Assrarullah" userId="7d748f2b39fd4dc8" providerId="LiveId" clId="{66741519-9FB6-4005-ABF4-A26A19847B56}" dt="2026-01-15T07:37:58.407" v="360" actId="14100"/>
          <ac:spMkLst>
            <pc:docMk/>
            <pc:sldMk cId="204139634" sldId="573"/>
            <ac:spMk id="3" creationId="{AF67202D-4065-DDD7-98F1-4291C536D1A3}"/>
          </ac:spMkLst>
        </pc:spChg>
      </pc:sldChg>
      <pc:sldChg chg="modSp mod">
        <pc:chgData name="Mohammed Assrarullah" userId="7d748f2b39fd4dc8" providerId="LiveId" clId="{66741519-9FB6-4005-ABF4-A26A19847B56}" dt="2026-01-15T07:38:55.192" v="368" actId="1076"/>
        <pc:sldMkLst>
          <pc:docMk/>
          <pc:sldMk cId="3501125123" sldId="574"/>
        </pc:sldMkLst>
        <pc:spChg chg="mod">
          <ac:chgData name="Mohammed Assrarullah" userId="7d748f2b39fd4dc8" providerId="LiveId" clId="{66741519-9FB6-4005-ABF4-A26A19847B56}" dt="2026-01-15T07:38:55.192" v="368" actId="1076"/>
          <ac:spMkLst>
            <pc:docMk/>
            <pc:sldMk cId="3501125123" sldId="574"/>
            <ac:spMk id="3" creationId="{FE07E8EE-7F26-D809-3523-C58876935A4E}"/>
          </ac:spMkLst>
        </pc:spChg>
      </pc:sldChg>
      <pc:sldChg chg="modSp mod">
        <pc:chgData name="Mohammed Assrarullah" userId="7d748f2b39fd4dc8" providerId="LiveId" clId="{66741519-9FB6-4005-ABF4-A26A19847B56}" dt="2026-01-15T07:39:14.389" v="370" actId="27636"/>
        <pc:sldMkLst>
          <pc:docMk/>
          <pc:sldMk cId="1199084396" sldId="575"/>
        </pc:sldMkLst>
        <pc:spChg chg="mod">
          <ac:chgData name="Mohammed Assrarullah" userId="7d748f2b39fd4dc8" providerId="LiveId" clId="{66741519-9FB6-4005-ABF4-A26A19847B56}" dt="2026-01-15T07:39:14.389" v="370" actId="27636"/>
          <ac:spMkLst>
            <pc:docMk/>
            <pc:sldMk cId="1199084396" sldId="575"/>
            <ac:spMk id="3" creationId="{B5107410-DE3D-5F62-F9D7-11EAEA92F0BB}"/>
          </ac:spMkLst>
        </pc:spChg>
      </pc:sldChg>
      <pc:sldChg chg="addSp delSp modSp mod">
        <pc:chgData name="Mohammed Assrarullah" userId="7d748f2b39fd4dc8" providerId="LiveId" clId="{66741519-9FB6-4005-ABF4-A26A19847B56}" dt="2026-01-15T09:08:26.492" v="443" actId="1076"/>
        <pc:sldMkLst>
          <pc:docMk/>
          <pc:sldMk cId="58742533" sldId="576"/>
        </pc:sldMkLst>
        <pc:spChg chg="mod">
          <ac:chgData name="Mohammed Assrarullah" userId="7d748f2b39fd4dc8" providerId="LiveId" clId="{66741519-9FB6-4005-ABF4-A26A19847B56}" dt="2026-01-15T09:06:49.239" v="436" actId="20577"/>
          <ac:spMkLst>
            <pc:docMk/>
            <pc:sldMk cId="58742533" sldId="576"/>
            <ac:spMk id="3" creationId="{66102C9B-C4AF-D0DB-DE74-862D9812001C}"/>
          </ac:spMkLst>
        </pc:spChg>
        <pc:picChg chg="add del mod">
          <ac:chgData name="Mohammed Assrarullah" userId="7d748f2b39fd4dc8" providerId="LiveId" clId="{66741519-9FB6-4005-ABF4-A26A19847B56}" dt="2026-01-15T09:07:42.984" v="440" actId="21"/>
          <ac:picMkLst>
            <pc:docMk/>
            <pc:sldMk cId="58742533" sldId="576"/>
            <ac:picMk id="5" creationId="{1811242B-C789-D0E4-F27F-BF7EB5CA7FB5}"/>
          </ac:picMkLst>
        </pc:picChg>
        <pc:picChg chg="add mod">
          <ac:chgData name="Mohammed Assrarullah" userId="7d748f2b39fd4dc8" providerId="LiveId" clId="{66741519-9FB6-4005-ABF4-A26A19847B56}" dt="2026-01-15T09:08:26.492" v="443" actId="1076"/>
          <ac:picMkLst>
            <pc:docMk/>
            <pc:sldMk cId="58742533" sldId="576"/>
            <ac:picMk id="7" creationId="{460119BB-3371-9EE7-BF80-824F37985885}"/>
          </ac:picMkLst>
        </pc:picChg>
      </pc:sldChg>
      <pc:sldChg chg="addSp delSp modSp mod">
        <pc:chgData name="Mohammed Assrarullah" userId="7d748f2b39fd4dc8" providerId="LiveId" clId="{66741519-9FB6-4005-ABF4-A26A19847B56}" dt="2026-01-15T07:40:17.882" v="378" actId="1076"/>
        <pc:sldMkLst>
          <pc:docMk/>
          <pc:sldMk cId="2245309600" sldId="577"/>
        </pc:sldMkLst>
        <pc:spChg chg="del mod">
          <ac:chgData name="Mohammed Assrarullah" userId="7d748f2b39fd4dc8" providerId="LiveId" clId="{66741519-9FB6-4005-ABF4-A26A19847B56}" dt="2026-01-15T07:39:55.958" v="374"/>
          <ac:spMkLst>
            <pc:docMk/>
            <pc:sldMk cId="2245309600" sldId="577"/>
            <ac:spMk id="3" creationId="{21789DDB-698E-B624-5621-F9D79482FFED}"/>
          </ac:spMkLst>
        </pc:spChg>
        <pc:spChg chg="add del mod">
          <ac:chgData name="Mohammed Assrarullah" userId="7d748f2b39fd4dc8" providerId="LiveId" clId="{66741519-9FB6-4005-ABF4-A26A19847B56}" dt="2026-01-15T07:40:10.040" v="376"/>
          <ac:spMkLst>
            <pc:docMk/>
            <pc:sldMk cId="2245309600" sldId="577"/>
            <ac:spMk id="4" creationId="{8EF21F86-5E1F-64CE-4893-88D23DC3C35C}"/>
          </ac:spMkLst>
        </pc:spChg>
        <pc:spChg chg="add mod">
          <ac:chgData name="Mohammed Assrarullah" userId="7d748f2b39fd4dc8" providerId="LiveId" clId="{66741519-9FB6-4005-ABF4-A26A19847B56}" dt="2026-01-15T07:40:17.882" v="378" actId="1076"/>
          <ac:spMkLst>
            <pc:docMk/>
            <pc:sldMk cId="2245309600" sldId="577"/>
            <ac:spMk id="5" creationId="{53E2A7E3-29EB-7554-3D10-5F750F6607DE}"/>
          </ac:spMkLst>
        </pc:spChg>
      </pc:sldChg>
      <pc:sldChg chg="addSp delSp modSp mod">
        <pc:chgData name="Mohammed Assrarullah" userId="7d748f2b39fd4dc8" providerId="LiveId" clId="{66741519-9FB6-4005-ABF4-A26A19847B56}" dt="2026-01-15T09:13:09.885" v="460"/>
        <pc:sldMkLst>
          <pc:docMk/>
          <pc:sldMk cId="1691700673" sldId="578"/>
        </pc:sldMkLst>
        <pc:spChg chg="mod">
          <ac:chgData name="Mohammed Assrarullah" userId="7d748f2b39fd4dc8" providerId="LiveId" clId="{66741519-9FB6-4005-ABF4-A26A19847B56}" dt="2026-01-15T07:41:43.929" v="398" actId="20577"/>
          <ac:spMkLst>
            <pc:docMk/>
            <pc:sldMk cId="1691700673" sldId="578"/>
            <ac:spMk id="3" creationId="{5E6198D1-2392-A218-1A4C-10F40FCB8253}"/>
          </ac:spMkLst>
        </pc:spChg>
        <pc:spChg chg="add del mod">
          <ac:chgData name="Mohammed Assrarullah" userId="7d748f2b39fd4dc8" providerId="LiveId" clId="{66741519-9FB6-4005-ABF4-A26A19847B56}" dt="2026-01-15T07:41:18.958" v="390"/>
          <ac:spMkLst>
            <pc:docMk/>
            <pc:sldMk cId="1691700673" sldId="578"/>
            <ac:spMk id="4" creationId="{4C9E264B-DE5E-01EB-01E3-F8901F8AAF51}"/>
          </ac:spMkLst>
        </pc:spChg>
        <pc:spChg chg="add del mod">
          <ac:chgData name="Mohammed Assrarullah" userId="7d748f2b39fd4dc8" providerId="LiveId" clId="{66741519-9FB6-4005-ABF4-A26A19847B56}" dt="2026-01-15T07:41:18.958" v="392"/>
          <ac:spMkLst>
            <pc:docMk/>
            <pc:sldMk cId="1691700673" sldId="578"/>
            <ac:spMk id="5" creationId="{880F0A00-793B-9091-AA59-32675B8A5E14}"/>
          </ac:spMkLst>
        </pc:spChg>
        <pc:spChg chg="add del mod">
          <ac:chgData name="Mohammed Assrarullah" userId="7d748f2b39fd4dc8" providerId="LiveId" clId="{66741519-9FB6-4005-ABF4-A26A19847B56}" dt="2026-01-15T07:41:18.958" v="394"/>
          <ac:spMkLst>
            <pc:docMk/>
            <pc:sldMk cId="1691700673" sldId="578"/>
            <ac:spMk id="6" creationId="{9DD6A1EC-554B-333D-0C13-6D27F6BAB2D6}"/>
          </ac:spMkLst>
        </pc:spChg>
        <pc:spChg chg="add del mod">
          <ac:chgData name="Mohammed Assrarullah" userId="7d748f2b39fd4dc8" providerId="LiveId" clId="{66741519-9FB6-4005-ABF4-A26A19847B56}" dt="2026-01-15T07:41:55.377" v="400" actId="21"/>
          <ac:spMkLst>
            <pc:docMk/>
            <pc:sldMk cId="1691700673" sldId="578"/>
            <ac:spMk id="7" creationId="{970A8FCB-508E-2199-4D4D-E8E4775ECAF1}"/>
          </ac:spMkLst>
        </pc:spChg>
        <pc:spChg chg="add del mod">
          <ac:chgData name="Mohammed Assrarullah" userId="7d748f2b39fd4dc8" providerId="LiveId" clId="{66741519-9FB6-4005-ABF4-A26A19847B56}" dt="2026-01-15T07:42:39.898" v="416"/>
          <ac:spMkLst>
            <pc:docMk/>
            <pc:sldMk cId="1691700673" sldId="578"/>
            <ac:spMk id="8" creationId="{7DFB73C7-E994-7AF8-2266-F4D0BBD2629E}"/>
          </ac:spMkLst>
        </pc:spChg>
        <pc:spChg chg="add del mod">
          <ac:chgData name="Mohammed Assrarullah" userId="7d748f2b39fd4dc8" providerId="LiveId" clId="{66741519-9FB6-4005-ABF4-A26A19847B56}" dt="2026-01-15T07:42:39.898" v="414" actId="21"/>
          <ac:spMkLst>
            <pc:docMk/>
            <pc:sldMk cId="1691700673" sldId="578"/>
            <ac:spMk id="9" creationId="{970A8FCB-508E-2199-4D4D-E8E4775ECAF1}"/>
          </ac:spMkLst>
        </pc:spChg>
        <pc:spChg chg="add del mod">
          <ac:chgData name="Mohammed Assrarullah" userId="7d748f2b39fd4dc8" providerId="LiveId" clId="{66741519-9FB6-4005-ABF4-A26A19847B56}" dt="2026-01-15T07:43:00.268" v="420"/>
          <ac:spMkLst>
            <pc:docMk/>
            <pc:sldMk cId="1691700673" sldId="578"/>
            <ac:spMk id="10" creationId="{9C0A53EC-5878-1583-220D-91F17A6456B3}"/>
          </ac:spMkLst>
        </pc:spChg>
        <pc:spChg chg="add del mod">
          <ac:chgData name="Mohammed Assrarullah" userId="7d748f2b39fd4dc8" providerId="LiveId" clId="{66741519-9FB6-4005-ABF4-A26A19847B56}" dt="2026-01-15T07:43:32.250" v="425"/>
          <ac:spMkLst>
            <pc:docMk/>
            <pc:sldMk cId="1691700673" sldId="578"/>
            <ac:spMk id="11" creationId="{FB4CB6AC-3E72-8DAC-FC2E-1959B275CA9D}"/>
          </ac:spMkLst>
        </pc:spChg>
        <pc:spChg chg="add del mod">
          <ac:chgData name="Mohammed Assrarullah" userId="7d748f2b39fd4dc8" providerId="LiveId" clId="{66741519-9FB6-4005-ABF4-A26A19847B56}" dt="2026-01-15T07:43:57.487" v="431"/>
          <ac:spMkLst>
            <pc:docMk/>
            <pc:sldMk cId="1691700673" sldId="578"/>
            <ac:spMk id="12" creationId="{D756893E-BE63-9916-9B93-872EDF5B7AAB}"/>
          </ac:spMkLst>
        </pc:spChg>
        <pc:spChg chg="add del mod">
          <ac:chgData name="Mohammed Assrarullah" userId="7d748f2b39fd4dc8" providerId="LiveId" clId="{66741519-9FB6-4005-ABF4-A26A19847B56}" dt="2026-01-15T07:43:57.487" v="433"/>
          <ac:spMkLst>
            <pc:docMk/>
            <pc:sldMk cId="1691700673" sldId="578"/>
            <ac:spMk id="13" creationId="{B20EFEB8-88B6-A642-7A3A-ADC06E7513DC}"/>
          </ac:spMkLst>
        </pc:spChg>
        <pc:spChg chg="add mod">
          <ac:chgData name="Mohammed Assrarullah" userId="7d748f2b39fd4dc8" providerId="LiveId" clId="{66741519-9FB6-4005-ABF4-A26A19847B56}" dt="2026-01-15T09:13:09.885" v="460"/>
          <ac:spMkLst>
            <pc:docMk/>
            <pc:sldMk cId="1691700673" sldId="578"/>
            <ac:spMk id="15" creationId="{8576222E-76D6-A1E6-2232-0FEDCB857798}"/>
          </ac:spMkLst>
        </pc:spChg>
      </pc:sldChg>
      <pc:sldChg chg="modSp">
        <pc:chgData name="Mohammed Assrarullah" userId="7d748f2b39fd4dc8" providerId="LiveId" clId="{66741519-9FB6-4005-ABF4-A26A19847B56}" dt="2026-01-15T07:40:32.680" v="379"/>
        <pc:sldMkLst>
          <pc:docMk/>
          <pc:sldMk cId="3744199677" sldId="579"/>
        </pc:sldMkLst>
        <pc:spChg chg="mod">
          <ac:chgData name="Mohammed Assrarullah" userId="7d748f2b39fd4dc8" providerId="LiveId" clId="{66741519-9FB6-4005-ABF4-A26A19847B56}" dt="2026-01-15T07:40:32.680" v="379"/>
          <ac:spMkLst>
            <pc:docMk/>
            <pc:sldMk cId="3744199677" sldId="579"/>
            <ac:spMk id="3" creationId="{3F2C79AB-5BF9-3911-CAE8-5E44B0DF22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343054"/>
            <a:ext cx="4705933" cy="22442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200" dirty="0"/>
              <a:t>Retail Sales Analytics Dashboard using Power BI</a:t>
            </a:r>
            <a:endParaRPr lang="en-US" sz="5200" b="1" kern="12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7304" y="3568584"/>
            <a:ext cx="4369759" cy="2801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A. MOHAMMED ASSRARULLAH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B.S.  ABDUR RAHMAN CRESCENT INSTITUTE OF SCIENCE AND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B.TECH AIDS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azizullahshabeena@gmail.com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 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Problem Statement: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8C97F-5AC9-F1CA-3CCC-090D5B13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Retail companies generate large volumes of sales data every day. Without analytical insights, decision makers struggle to answer critical questions such as:</a:t>
            </a:r>
          </a:p>
          <a:p>
            <a:r>
              <a:rPr lang="en-US" sz="2400" dirty="0"/>
              <a:t>Which products generate the highest revenue?</a:t>
            </a:r>
          </a:p>
          <a:p>
            <a:r>
              <a:rPr lang="en-US" sz="2400" dirty="0"/>
              <a:t>Which store locations perform well?</a:t>
            </a:r>
          </a:p>
          <a:p>
            <a:r>
              <a:rPr lang="en-US" sz="2400" dirty="0"/>
              <a:t>What is the sales trend over time?</a:t>
            </a:r>
          </a:p>
          <a:p>
            <a:r>
              <a:rPr lang="en-US" sz="2400" dirty="0"/>
              <a:t>Which customer segment drives profitability?</a:t>
            </a:r>
          </a:p>
          <a:p>
            <a:r>
              <a:rPr lang="en-US" sz="2400" dirty="0"/>
              <a:t>Lack of visibility leads to inaccurate forecasting and inefficient business planning.</a:t>
            </a: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81" y="1567521"/>
            <a:ext cx="6824820" cy="45820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/>
              <a:t>To address this issue, a </a:t>
            </a:r>
            <a:r>
              <a:rPr lang="en-US" sz="2400" b="1" dirty="0"/>
              <a:t>Power BI–based Retail Sales Analytics Dashboard</a:t>
            </a:r>
            <a:r>
              <a:rPr lang="en-US" sz="2400" dirty="0"/>
              <a:t> is proposed.</a:t>
            </a:r>
          </a:p>
          <a:p>
            <a:r>
              <a:rPr lang="en-US" sz="2400" dirty="0"/>
              <a:t>The system aims to:</a:t>
            </a:r>
          </a:p>
          <a:p>
            <a:r>
              <a:rPr lang="en-US" sz="2400" dirty="0"/>
              <a:t>✔ Collect &amp; clean retail sales data</a:t>
            </a:r>
            <a:br>
              <a:rPr lang="en-US" sz="2400" dirty="0"/>
            </a:br>
            <a:r>
              <a:rPr lang="en-US" sz="2400" dirty="0"/>
              <a:t>✔ Model necessary business dimensions</a:t>
            </a:r>
            <a:br>
              <a:rPr lang="en-US" sz="2400" dirty="0"/>
            </a:br>
            <a:r>
              <a:rPr lang="en-US" sz="2400" dirty="0"/>
              <a:t>✔ Create interactive visual reports</a:t>
            </a:r>
            <a:br>
              <a:rPr lang="en-US" sz="2400" dirty="0"/>
            </a:br>
            <a:r>
              <a:rPr lang="en-US" sz="2400" dirty="0"/>
              <a:t>✔ Provide key business insights for decision making</a:t>
            </a:r>
          </a:p>
          <a:p>
            <a:r>
              <a:rPr lang="en-US" sz="2400" dirty="0"/>
              <a:t>This enables data-driven performance monitoring and strategic planning.</a:t>
            </a: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77" y="1383990"/>
            <a:ext cx="11077422" cy="513739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IN" sz="1200" b="1" dirty="0"/>
              <a:t>Dataset Used:</a:t>
            </a:r>
            <a:r>
              <a:rPr lang="en-IN" sz="1200" dirty="0"/>
              <a:t> Retail Sales Transactions (CSV / Excel)</a:t>
            </a:r>
            <a:br>
              <a:rPr lang="en-IN" sz="1200" dirty="0"/>
            </a:br>
            <a:r>
              <a:rPr lang="en-IN" sz="1200" b="1" dirty="0"/>
              <a:t>Business Dimensions:</a:t>
            </a:r>
            <a:endParaRPr lang="en-IN" sz="1200" dirty="0"/>
          </a:p>
          <a:p>
            <a:r>
              <a:rPr lang="en-IN" sz="1200" dirty="0"/>
              <a:t>Product</a:t>
            </a:r>
          </a:p>
          <a:p>
            <a:r>
              <a:rPr lang="en-IN" sz="1200" dirty="0"/>
              <a:t>Category</a:t>
            </a:r>
          </a:p>
          <a:p>
            <a:r>
              <a:rPr lang="en-IN" sz="1200" dirty="0"/>
              <a:t>Customer</a:t>
            </a:r>
          </a:p>
          <a:p>
            <a:r>
              <a:rPr lang="en-IN" sz="1200" dirty="0"/>
              <a:t>Store</a:t>
            </a:r>
          </a:p>
          <a:p>
            <a:r>
              <a:rPr lang="en-IN" sz="1200" dirty="0"/>
              <a:t>Time</a:t>
            </a:r>
          </a:p>
          <a:p>
            <a:r>
              <a:rPr lang="en-IN" sz="1200" b="1" dirty="0"/>
              <a:t>Tools &amp; Technologies:</a:t>
            </a:r>
            <a:endParaRPr lang="en-IN" sz="1200" dirty="0"/>
          </a:p>
          <a:p>
            <a:r>
              <a:rPr lang="en-IN" sz="1200" dirty="0"/>
              <a:t>Microsoft Power BI</a:t>
            </a:r>
          </a:p>
          <a:p>
            <a:r>
              <a:rPr lang="en-IN" sz="1200" dirty="0"/>
              <a:t>Power Query</a:t>
            </a:r>
          </a:p>
          <a:p>
            <a:r>
              <a:rPr lang="en-IN" sz="1200" dirty="0"/>
              <a:t>DAX (Data Analysis Expressions)</a:t>
            </a:r>
          </a:p>
          <a:p>
            <a:r>
              <a:rPr lang="en-IN" sz="1200" dirty="0"/>
              <a:t>Excel/CSV dataset</a:t>
            </a:r>
          </a:p>
          <a:p>
            <a:r>
              <a:rPr lang="en-IN" sz="1200" b="1" dirty="0"/>
              <a:t>Tasks Performed:</a:t>
            </a:r>
            <a:endParaRPr lang="en-IN" sz="1200" dirty="0"/>
          </a:p>
          <a:p>
            <a:r>
              <a:rPr lang="en-IN" sz="1200" dirty="0"/>
              <a:t>Data Import</a:t>
            </a:r>
          </a:p>
          <a:p>
            <a:r>
              <a:rPr lang="en-IN" sz="1200" dirty="0"/>
              <a:t>Data Cleaning &amp; Transformation</a:t>
            </a:r>
          </a:p>
          <a:p>
            <a:r>
              <a:rPr lang="en-IN" sz="1200" dirty="0"/>
              <a:t>Data </a:t>
            </a:r>
            <a:r>
              <a:rPr lang="en-IN" sz="1200" dirty="0" err="1"/>
              <a:t>Modeling</a:t>
            </a:r>
            <a:endParaRPr lang="en-IN" sz="1200" dirty="0"/>
          </a:p>
          <a:p>
            <a:r>
              <a:rPr lang="en-IN" sz="1200" dirty="0"/>
              <a:t>Report &amp; Dashboard Designing</a:t>
            </a:r>
          </a:p>
          <a:p>
            <a:r>
              <a:rPr lang="en-IN" sz="1200" dirty="0"/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1600" b="1" dirty="0"/>
              <a:t>Data Modeling Approach:</a:t>
            </a:r>
            <a:endParaRPr lang="en-US" sz="1600" dirty="0"/>
          </a:p>
          <a:p>
            <a:r>
              <a:rPr lang="en-US" sz="1600" dirty="0"/>
              <a:t>Snowflake Model / Star Schema</a:t>
            </a:r>
          </a:p>
          <a:p>
            <a:r>
              <a:rPr lang="en-US" sz="1600" dirty="0"/>
              <a:t>Relationships between Fact &amp; Dimension tables</a:t>
            </a:r>
          </a:p>
          <a:p>
            <a:r>
              <a:rPr lang="en-US" sz="1600" b="1" dirty="0"/>
              <a:t>DAX Measures Applied:</a:t>
            </a:r>
            <a:endParaRPr lang="en-US" sz="1600" dirty="0"/>
          </a:p>
          <a:p>
            <a:r>
              <a:rPr lang="en-US" sz="1600" dirty="0"/>
              <a:t>Total Sales</a:t>
            </a:r>
          </a:p>
          <a:p>
            <a:r>
              <a:rPr lang="en-US" sz="1600" dirty="0"/>
              <a:t>Profit</a:t>
            </a:r>
          </a:p>
          <a:p>
            <a:r>
              <a:rPr lang="en-US" sz="1600" dirty="0"/>
              <a:t>Profit Margin</a:t>
            </a:r>
          </a:p>
          <a:p>
            <a:r>
              <a:rPr lang="en-US" sz="1600" dirty="0"/>
              <a:t>Sales Growth %</a:t>
            </a:r>
          </a:p>
          <a:p>
            <a:r>
              <a:rPr lang="en-US" sz="1600" dirty="0"/>
              <a:t>Category-wise Performance</a:t>
            </a:r>
          </a:p>
          <a:p>
            <a:r>
              <a:rPr lang="en-US" sz="1600" dirty="0"/>
              <a:t>Monthly Trends</a:t>
            </a:r>
          </a:p>
          <a:p>
            <a:r>
              <a:rPr lang="en-US" sz="1600" b="1" dirty="0"/>
              <a:t>Deployment:</a:t>
            </a:r>
            <a:endParaRPr lang="en-US" sz="1600" dirty="0"/>
          </a:p>
          <a:p>
            <a:r>
              <a:rPr lang="en-US" sz="1600" dirty="0"/>
              <a:t>Dashboard published to Power BI Service (Optional)</a:t>
            </a:r>
          </a:p>
          <a:p>
            <a:r>
              <a:rPr lang="en-US" sz="1600" dirty="0"/>
              <a:t>Can be shared with business stakeholders for KPI tracking</a:t>
            </a: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7" y="1584103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/>
              </a:rPr>
              <a:t>.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0119BB-3371-9EE7-BF80-824F37985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" y="1584103"/>
            <a:ext cx="11414503" cy="469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E2A7E3-29EB-7554-3D10-5F750F6607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454" y="1655303"/>
            <a:ext cx="8636147" cy="209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The project successfully demonstrates the use of </a:t>
            </a:r>
            <a:r>
              <a:rPr lang="en-US" sz="1800" b="1" dirty="0"/>
              <a:t>Power BI for business analytics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Interactive dashboards enable decision makers to:</a:t>
            </a:r>
          </a:p>
          <a:p>
            <a:r>
              <a:rPr lang="en-US" sz="1800" dirty="0"/>
              <a:t>✔ Monitor performance</a:t>
            </a:r>
            <a:br>
              <a:rPr lang="en-US" sz="1800" dirty="0"/>
            </a:br>
            <a:r>
              <a:rPr lang="en-US" sz="1800" dirty="0"/>
              <a:t>✔ Identify trends</a:t>
            </a:r>
            <a:br>
              <a:rPr lang="en-US" sz="1800" dirty="0"/>
            </a:br>
            <a:r>
              <a:rPr lang="en-US" sz="1800" dirty="0"/>
              <a:t>✔ Improve forecasting</a:t>
            </a:r>
            <a:br>
              <a:rPr lang="en-US" sz="1800" dirty="0"/>
            </a:br>
            <a:r>
              <a:rPr lang="en-US" sz="1800" dirty="0"/>
              <a:t>✔ Strengthen business strategies</a:t>
            </a:r>
          </a:p>
          <a:p>
            <a:r>
              <a:rPr lang="en-US" sz="1800" dirty="0"/>
              <a:t>Thus, Power BI proves to be an effective BI tool for retail analytics.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79AB-5BF9-3911-CAE8-5E44B0DF2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/>
            </a:endParaRPr>
          </a:p>
          <a:p>
            <a:r>
              <a:rPr lang="en-US" sz="2400" dirty="0"/>
              <a:t>The solution can be extended by:</a:t>
            </a:r>
          </a:p>
          <a:p>
            <a:r>
              <a:rPr lang="en-US" sz="2400" dirty="0"/>
              <a:t>➡ Adding forecast models using DAX or ML</a:t>
            </a:r>
            <a:br>
              <a:rPr lang="en-US" sz="2400" dirty="0"/>
            </a:br>
            <a:r>
              <a:rPr lang="en-US" sz="2400" dirty="0"/>
              <a:t>➡ Integrating live sales database</a:t>
            </a:r>
            <a:br>
              <a:rPr lang="en-US" sz="2400" dirty="0"/>
            </a:br>
            <a:r>
              <a:rPr lang="en-US" sz="2400" dirty="0"/>
              <a:t>➡ Building automated reporting pipelines</a:t>
            </a:r>
            <a:br>
              <a:rPr lang="en-US" sz="2400" dirty="0"/>
            </a:br>
            <a:r>
              <a:rPr lang="en-US" sz="2400" dirty="0"/>
              <a:t>➡ Expanding to multiple retail regions</a:t>
            </a:r>
            <a:br>
              <a:rPr lang="en-US" sz="2400" dirty="0"/>
            </a:br>
            <a:r>
              <a:rPr lang="en-US" sz="2400" dirty="0"/>
              <a:t>➡ Adding customer churn &amp; lifetime value analytics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6222E-76D6-A1E6-2232-0FEDCB857798}"/>
              </a:ext>
            </a:extLst>
          </p:cNvPr>
          <p:cNvSpPr txBox="1"/>
          <p:nvPr/>
        </p:nvSpPr>
        <p:spPr>
          <a:xfrm>
            <a:off x="196804" y="1676359"/>
            <a:ext cx="62048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Microsoft Power BI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(Retail Store) / Kaggle / UCI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Query Docs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 Function 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LINK: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https://github.com/Assrar2007/Retail-Sales-Analytics-Dashboard-using-Power-BI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450</Words>
  <Application>Microsoft Office PowerPoint</Application>
  <PresentationFormat>Widescreen</PresentationFormat>
  <Paragraphs>81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Mohammed Assrarullah</cp:lastModifiedBy>
  <cp:revision>100</cp:revision>
  <dcterms:created xsi:type="dcterms:W3CDTF">2024-05-21T11:55:07Z</dcterms:created>
  <dcterms:modified xsi:type="dcterms:W3CDTF">2026-01-15T09:13:16Z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